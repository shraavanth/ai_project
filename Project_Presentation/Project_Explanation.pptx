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62895" cy="4114800"/>
          </a:xfrm>
          <a:prstGeom prst="rect">
            <a:avLst/>
          </a:prstGeom>
          <a:noFill/>
        </p:spPr>
        <p:txBody>
          <a:bodyPr wrap="square">
            <a:spAutoFit/>
          </a:bodyPr>
          <a:lstStyle/>
          <a:p>
            <a:pPr>
              <a:spcAft>
                <a:spcPts val="1200"/>
              </a:spcAft>
              <a:defRPr sz="1200" b="1">
                <a:solidFill>
                  <a:srgbClr val="00F5D4"/>
                </a:solidFill>
                <a:latin typeface="Segoe UI"/>
              </a:defRPr>
            </a:pPr>
            <a:r>
              <a:t>ACADEMIC &amp; TECHNICAL VIVA DEFENSE</a:t>
            </a:r>
          </a:p>
          <a:p>
            <a:pPr>
              <a:spcAft>
                <a:spcPts val="1400"/>
              </a:spcAft>
              <a:defRPr sz="3200" b="1">
                <a:solidFill>
                  <a:srgbClr val="F8FAFC"/>
                </a:solidFill>
                <a:latin typeface="Segoe UI"/>
              </a:defRPr>
            </a:pPr>
            <a:r>
              <a:t>Self-Organizing Multi-Agent Systems for</a:t>
            </a:r>
            <a:br/>
            <a:r>
              <a:t>Decentralized Environmental Monitoring</a:t>
            </a:r>
          </a:p>
          <a:p>
            <a:pPr>
              <a:spcAft>
                <a:spcPts val="2400"/>
              </a:spcAft>
              <a:defRPr sz="1400">
                <a:solidFill>
                  <a:srgbClr val="38BDF8"/>
                </a:solidFill>
                <a:latin typeface="Segoe UI"/>
              </a:defRPr>
            </a:pPr>
            <a:r>
              <a:t>Autonomous Edge Sensing, Machine Learning Anomaly Detection, P2P Consensus &amp; Self-Healing Network Mesh</a:t>
            </a:r>
          </a:p>
          <a:p>
            <a:pPr>
              <a:defRPr sz="1100">
                <a:solidFill>
                  <a:srgbClr val="94A3B8"/>
                </a:solidFill>
                <a:latin typeface="Segoe UI"/>
              </a:defRPr>
            </a:pPr>
            <a:r>
              <a:t>Technologies: Python 3.11  •  FastAPI  •  Scikit-Learn  •  Next.js 14  •  NetworkX  •  SQLAlchemy  •  WebSockets</a:t>
            </a:r>
          </a:p>
        </p:txBody>
      </p:sp>
      <p:sp>
        <p:nvSpPr>
          <p:cNvPr id="4" name="Rounded Rectangle 3"/>
          <p:cNvSpPr/>
          <p:nvPr/>
        </p:nvSpPr>
        <p:spPr>
          <a:xfrm>
            <a:off x="914400" y="4937760"/>
            <a:ext cx="3200400" cy="118872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5029200"/>
            <a:ext cx="2926080" cy="1005840"/>
          </a:xfrm>
          <a:prstGeom prst="rect">
            <a:avLst/>
          </a:prstGeom>
          <a:noFill/>
        </p:spPr>
        <p:txBody>
          <a:bodyPr wrap="square">
            <a:spAutoFit/>
          </a:bodyPr>
          <a:lstStyle/>
          <a:p>
            <a:pPr>
              <a:defRPr sz="950" b="1">
                <a:solidFill>
                  <a:srgbClr val="38BDF8"/>
                </a:solidFill>
              </a:defRPr>
            </a:pPr>
            <a:r>
              <a:t>PROJECT ARCHITECTURE</a:t>
            </a:r>
          </a:p>
          <a:p>
            <a:pPr>
              <a:defRPr sz="900">
                <a:solidFill>
                  <a:srgbClr val="CBD5E1"/>
                </a:solidFill>
              </a:defRPr>
            </a:pPr>
            <a:r>
              <a:t>Decentralized P2P Multi-Agent Grid</a:t>
            </a:r>
            <a:br/>
            <a:r>
              <a:t>6 Telemetry Channels  •  Sub-20ms Healing</a:t>
            </a:r>
          </a:p>
        </p:txBody>
      </p:sp>
      <p:sp>
        <p:nvSpPr>
          <p:cNvPr id="6" name="Rounded Rectangle 5"/>
          <p:cNvSpPr/>
          <p:nvPr/>
        </p:nvSpPr>
        <p:spPr>
          <a:xfrm>
            <a:off x="4480560" y="4937760"/>
            <a:ext cx="3200400" cy="118872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5029200"/>
            <a:ext cx="2926080" cy="1005840"/>
          </a:xfrm>
          <a:prstGeom prst="rect">
            <a:avLst/>
          </a:prstGeom>
          <a:noFill/>
        </p:spPr>
        <p:txBody>
          <a:bodyPr wrap="square">
            <a:spAutoFit/>
          </a:bodyPr>
          <a:lstStyle/>
          <a:p>
            <a:pPr>
              <a:defRPr sz="950" b="1">
                <a:solidFill>
                  <a:srgbClr val="00F5D4"/>
                </a:solidFill>
              </a:defRPr>
            </a:pPr>
            <a:r>
              <a:t>EVALUATION SCOPE</a:t>
            </a:r>
          </a:p>
          <a:p>
            <a:pPr>
              <a:defRPr sz="900">
                <a:solidFill>
                  <a:srgbClr val="CBD5E1"/>
                </a:solidFill>
              </a:defRPr>
            </a:pPr>
            <a:r>
              <a:t>College Project &amp; Faculty Viva</a:t>
            </a:r>
            <a:br/>
            <a:r>
              <a:t>Full Code Verification (11/11 Tests Passed)</a:t>
            </a:r>
          </a:p>
        </p:txBody>
      </p:sp>
      <p:sp>
        <p:nvSpPr>
          <p:cNvPr id="8" name="Rounded Rectangle 7"/>
          <p:cNvSpPr/>
          <p:nvPr/>
        </p:nvSpPr>
        <p:spPr>
          <a:xfrm>
            <a:off x="8046720" y="4937760"/>
            <a:ext cx="3200400" cy="118872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79" y="5029200"/>
            <a:ext cx="2926080" cy="1005840"/>
          </a:xfrm>
          <a:prstGeom prst="rect">
            <a:avLst/>
          </a:prstGeom>
          <a:noFill/>
        </p:spPr>
        <p:txBody>
          <a:bodyPr wrap="square">
            <a:spAutoFit/>
          </a:bodyPr>
          <a:lstStyle/>
          <a:p>
            <a:pPr>
              <a:defRPr sz="950" b="1">
                <a:solidFill>
                  <a:srgbClr val="A855F7"/>
                </a:solidFill>
              </a:defRPr>
            </a:pPr>
            <a:r>
              <a:t>KEY RESEARCH ADVANCEMENT</a:t>
            </a:r>
          </a:p>
          <a:p>
            <a:pPr>
              <a:defRPr sz="900">
                <a:solidFill>
                  <a:srgbClr val="CBD5E1"/>
                </a:solidFill>
              </a:defRPr>
            </a:pPr>
            <a:r>
              <a:t>Zero Cloud Dependency in Crisis</a:t>
            </a:r>
            <a:br/>
            <a:r>
              <a:t>Spatial Neighborhood Consensus Quorum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SYSTEM OVERVIEW</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Introduction: Autonomous Decentralized Environmental Intelligence</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393192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3566160"/>
          </a:xfrm>
          <a:prstGeom prst="rect">
            <a:avLst/>
          </a:prstGeom>
          <a:noFill/>
        </p:spPr>
        <p:txBody>
          <a:bodyPr wrap="square">
            <a:spAutoFit/>
          </a:bodyPr>
          <a:lstStyle/>
          <a:p>
            <a:pPr>
              <a:spcAft>
                <a:spcPts val="1000"/>
              </a:spcAft>
              <a:defRPr sz="1300" b="1">
                <a:solidFill>
                  <a:srgbClr val="00F5D4"/>
                </a:solidFill>
              </a:defRPr>
            </a:pPr>
            <a:r>
              <a:t>WHAT IS THE PROJECT?</a:t>
            </a:r>
          </a:p>
          <a:p>
            <a:pPr>
              <a:spcAft>
                <a:spcPts val="1000"/>
              </a:spcAft>
              <a:defRPr sz="1000">
                <a:solidFill>
                  <a:srgbClr val="CBD5E1"/>
                </a:solidFill>
              </a:defRPr>
            </a:pPr>
            <a:r>
              <a:t>An AI-powered, decentralized environmental monitoring platform composed of autonomous edge agents deployed over a spatial coordinate grid.</a:t>
            </a:r>
          </a:p>
          <a:p>
            <a:pPr>
              <a:defRPr sz="950">
                <a:solidFill>
                  <a:srgbClr val="94A3B8"/>
                </a:solidFill>
              </a:defRPr>
            </a:pPr>
            <a:r>
              <a:t>Each node acts as an intelligent physical probe tracking 6 telemetry streams: Temperature, Humidity, Smoke, CO2, AQI, and Soil Moisture.</a:t>
            </a:r>
          </a:p>
        </p:txBody>
      </p:sp>
      <p:sp>
        <p:nvSpPr>
          <p:cNvPr id="9" name="Rounded Rectangle 8"/>
          <p:cNvSpPr/>
          <p:nvPr/>
        </p:nvSpPr>
        <p:spPr>
          <a:xfrm>
            <a:off x="4434840" y="1463040"/>
            <a:ext cx="3337560" cy="393192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45920"/>
            <a:ext cx="2971800" cy="3566160"/>
          </a:xfrm>
          <a:prstGeom prst="rect">
            <a:avLst/>
          </a:prstGeom>
          <a:noFill/>
        </p:spPr>
        <p:txBody>
          <a:bodyPr wrap="square">
            <a:spAutoFit/>
          </a:bodyPr>
          <a:lstStyle/>
          <a:p>
            <a:pPr>
              <a:spcAft>
                <a:spcPts val="1000"/>
              </a:spcAft>
              <a:defRPr sz="1300" b="1">
                <a:solidFill>
                  <a:srgbClr val="38BDF8"/>
                </a:solidFill>
              </a:defRPr>
            </a:pPr>
            <a:r>
              <a:t>WHAT DOES IT DO?</a:t>
            </a:r>
          </a:p>
          <a:p>
            <a:pPr>
              <a:spcAft>
                <a:spcPts val="1000"/>
              </a:spcAft>
              <a:defRPr sz="1000">
                <a:solidFill>
                  <a:srgbClr val="CBD5E1"/>
                </a:solidFill>
              </a:defRPr>
            </a:pPr>
            <a:r>
              <a:t>Executes local Machine Learning inference (Isolation Forest) directly on the node to detect anomalies without uploading raw streams to a central cloud.</a:t>
            </a:r>
          </a:p>
          <a:p>
            <a:pPr>
              <a:defRPr sz="950">
                <a:solidFill>
                  <a:srgbClr val="94A3B8"/>
                </a:solidFill>
              </a:defRPr>
            </a:pPr>
            <a:r>
              <a:t>Autonomously coordinates peer-to-peer alert broadcasts, evaluates local consensus with neighbors, and heals network partitions when nodes physically fail.</a:t>
            </a:r>
          </a:p>
        </p:txBody>
      </p:sp>
      <p:sp>
        <p:nvSpPr>
          <p:cNvPr id="11" name="Rounded Rectangle 10"/>
          <p:cNvSpPr/>
          <p:nvPr/>
        </p:nvSpPr>
        <p:spPr>
          <a:xfrm>
            <a:off x="8138160" y="1463040"/>
            <a:ext cx="3337560" cy="393192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45920"/>
            <a:ext cx="2971800" cy="3566160"/>
          </a:xfrm>
          <a:prstGeom prst="rect">
            <a:avLst/>
          </a:prstGeom>
          <a:noFill/>
        </p:spPr>
        <p:txBody>
          <a:bodyPr wrap="square">
            <a:spAutoFit/>
          </a:bodyPr>
          <a:lstStyle/>
          <a:p>
            <a:pPr>
              <a:spcAft>
                <a:spcPts val="1000"/>
              </a:spcAft>
              <a:defRPr sz="1300" b="1">
                <a:solidFill>
                  <a:srgbClr val="A855F7"/>
                </a:solidFill>
              </a:defRPr>
            </a:pPr>
            <a:r>
              <a:t>WHY IS IT IMPORTANT?</a:t>
            </a:r>
          </a:p>
          <a:p>
            <a:pPr>
              <a:spcAft>
                <a:spcPts val="1000"/>
              </a:spcAft>
              <a:defRPr sz="1000">
                <a:solidFill>
                  <a:srgbClr val="CBD5E1"/>
                </a:solidFill>
              </a:defRPr>
            </a:pPr>
            <a:r>
              <a:t>Traditional centralized telemetry systems fail catastrophically during disasters (wildfires, pipeline leaks) due to telecom bottlenecks and single points of failure.</a:t>
            </a:r>
          </a:p>
          <a:p>
            <a:pPr>
              <a:defRPr sz="950">
                <a:solidFill>
                  <a:srgbClr val="94A3B8"/>
                </a:solidFill>
              </a:defRPr>
            </a:pPr>
            <a:r>
              <a:t>By shifting intelligence and consensus to the physical edge, the system guarantees 100% operational continuity during severe infrastructure blackouts.</a:t>
            </a:r>
          </a:p>
        </p:txBody>
      </p:sp>
      <p:sp>
        <p:nvSpPr>
          <p:cNvPr id="13" name="Rounded Rectangle 12"/>
          <p:cNvSpPr/>
          <p:nvPr/>
        </p:nvSpPr>
        <p:spPr>
          <a:xfrm>
            <a:off x="731520" y="5577840"/>
            <a:ext cx="10744200" cy="73152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623560"/>
            <a:ext cx="10378440" cy="640080"/>
          </a:xfrm>
          <a:prstGeom prst="rect">
            <a:avLst/>
          </a:prstGeom>
          <a:noFill/>
        </p:spPr>
        <p:txBody>
          <a:bodyPr wrap="square">
            <a:spAutoFit/>
          </a:bodyPr>
          <a:lstStyle/>
          <a:p>
            <a:pPr>
              <a:defRPr sz="1050" b="1">
                <a:solidFill>
                  <a:srgbClr val="10B981"/>
                </a:solidFill>
              </a:defRPr>
            </a:pPr>
            <a:r>
              <a:t>CORE METRICS AT A GLANCE:   6 Telemetry Sensors/Node   |   &lt;20ms Graph Topology Healing   |   θ ≥ 0.50 Quorum Threshold   |   22 REST API Endpoints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INDUSTRY CONTEXT &amp; MOTIVATION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Problem Statement: Critical Shortcomings of Centralized Monitoring</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5166360" cy="475488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389120"/>
          </a:xfrm>
          <a:prstGeom prst="rect">
            <a:avLst/>
          </a:prstGeom>
          <a:noFill/>
        </p:spPr>
        <p:txBody>
          <a:bodyPr wrap="square">
            <a:spAutoFit/>
          </a:bodyPr>
          <a:lstStyle/>
          <a:p>
            <a:pPr>
              <a:spcAft>
                <a:spcPts val="1200"/>
              </a:spcAft>
              <a:defRPr sz="1300" b="1">
                <a:solidFill>
                  <a:srgbClr val="F43F5E"/>
                </a:solidFill>
              </a:defRPr>
            </a:pPr>
            <a:r>
              <a:t>THE REAL-WORLD CRISIS ENVIRONMENT</a:t>
            </a:r>
          </a:p>
          <a:p>
            <a:pPr>
              <a:spcAft>
                <a:spcPts val="400"/>
              </a:spcAft>
              <a:defRPr sz="950" b="1">
                <a:solidFill>
                  <a:srgbClr val="F8FAFC"/>
                </a:solidFill>
              </a:defRPr>
            </a:pPr>
            <a:r>
              <a:t>• Rapid Catastrophic Hazards: </a:t>
            </a:r>
          </a:p>
          <a:p>
            <a:pPr>
              <a:spcAft>
                <a:spcPts val="800"/>
              </a:spcAft>
              <a:defRPr sz="900">
                <a:solidFill>
                  <a:srgbClr val="CBD5E1"/>
                </a:solidFill>
              </a:defRPr>
            </a:pPr>
            <a:r>
              <a:t>  Wildfires, toxic chemical breaches, and pipeline emissions expand exponentially within minutes, demanding instantaneous local response.</a:t>
            </a:r>
          </a:p>
          <a:p>
            <a:pPr>
              <a:spcAft>
                <a:spcPts val="400"/>
              </a:spcAft>
              <a:defRPr sz="950" b="1">
                <a:solidFill>
                  <a:srgbClr val="F8FAFC"/>
                </a:solidFill>
              </a:defRPr>
            </a:pPr>
            <a:r>
              <a:t>• Infrastructure Collapse: </a:t>
            </a:r>
          </a:p>
          <a:p>
            <a:pPr>
              <a:spcAft>
                <a:spcPts val="800"/>
              </a:spcAft>
              <a:defRPr sz="900">
                <a:solidFill>
                  <a:srgbClr val="CBD5E1"/>
                </a:solidFill>
              </a:defRPr>
            </a:pPr>
            <a:r>
              <a:t>  High-heat fires and natural disasters incinerate central cellular towers, fiber-optic lines, and satellite uplink base stations.</a:t>
            </a:r>
          </a:p>
          <a:p>
            <a:pPr>
              <a:spcAft>
                <a:spcPts val="400"/>
              </a:spcAft>
              <a:defRPr sz="950" b="1">
                <a:solidFill>
                  <a:srgbClr val="F8FAFC"/>
                </a:solidFill>
              </a:defRPr>
            </a:pPr>
            <a:r>
              <a:t>• Severe Bandwidth Bottlenecks: </a:t>
            </a:r>
          </a:p>
          <a:p>
            <a:pPr>
              <a:spcAft>
                <a:spcPts val="800"/>
              </a:spcAft>
              <a:defRPr sz="900">
                <a:solidFill>
                  <a:srgbClr val="CBD5E1"/>
                </a:solidFill>
              </a:defRPr>
            </a:pPr>
            <a:r>
              <a:t>  Transmitting high-frequency raw multi-sensor telemetry across hundreds of nodes clogs scarce wireless spectrum.</a:t>
            </a:r>
          </a:p>
          <a:p>
            <a:pPr>
              <a:spcAft>
                <a:spcPts val="400"/>
              </a:spcAft>
              <a:defRPr sz="950" b="1">
                <a:solidFill>
                  <a:srgbClr val="F8FAFC"/>
                </a:solidFill>
              </a:defRPr>
            </a:pPr>
            <a:r>
              <a:t>• Costly False Alarms: </a:t>
            </a:r>
          </a:p>
          <a:p>
            <a:pPr>
              <a:spcAft>
                <a:spcPts val="800"/>
              </a:spcAft>
              <a:defRPr sz="900">
                <a:solidFill>
                  <a:srgbClr val="CBD5E1"/>
                </a:solidFill>
              </a:defRPr>
            </a:pPr>
            <a:r>
              <a:t>  Sensor drift or hardware glitches in single centralized sensors trigger expensive, disruptive emergency team deployments.</a:t>
            </a:r>
          </a:p>
        </p:txBody>
      </p:sp>
      <p:sp>
        <p:nvSpPr>
          <p:cNvPr id="9" name="Rounded Rectangle 8"/>
          <p:cNvSpPr/>
          <p:nvPr/>
        </p:nvSpPr>
        <p:spPr>
          <a:xfrm>
            <a:off x="6309360" y="1463040"/>
            <a:ext cx="5166360" cy="47548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709160" cy="4389120"/>
          </a:xfrm>
          <a:prstGeom prst="rect">
            <a:avLst/>
          </a:prstGeom>
          <a:noFill/>
        </p:spPr>
        <p:txBody>
          <a:bodyPr wrap="square">
            <a:spAutoFit/>
          </a:bodyPr>
          <a:lstStyle/>
          <a:p>
            <a:pPr>
              <a:spcAft>
                <a:spcPts val="1200"/>
              </a:spcAft>
              <a:defRPr sz="1300" b="1">
                <a:solidFill>
                  <a:srgbClr val="F59E0B"/>
                </a:solidFill>
              </a:defRPr>
            </a:pPr>
            <a:r>
              <a:t>LIMITATIONS OF MONOLITHIC CLOUD ARCHITECTURES</a:t>
            </a:r>
          </a:p>
          <a:p>
            <a:pPr>
              <a:spcAft>
                <a:spcPts val="400"/>
              </a:spcAft>
              <a:defRPr sz="950" b="1">
                <a:solidFill>
                  <a:srgbClr val="F8FAFC"/>
                </a:solidFill>
              </a:defRPr>
            </a:pPr>
            <a:r>
              <a:t>• Single Point of Failure (SPOF): </a:t>
            </a:r>
          </a:p>
          <a:p>
            <a:pPr>
              <a:spcAft>
                <a:spcPts val="800"/>
              </a:spcAft>
              <a:defRPr sz="900">
                <a:solidFill>
                  <a:srgbClr val="CBD5E1"/>
                </a:solidFill>
              </a:defRPr>
            </a:pPr>
            <a:r>
              <a:t>  If the centralized cloud aggregator or ingress gateway disconnects, the entire monitoring perimeter goes completely blind.</a:t>
            </a:r>
          </a:p>
          <a:p>
            <a:pPr>
              <a:spcAft>
                <a:spcPts val="400"/>
              </a:spcAft>
              <a:defRPr sz="950" b="1">
                <a:solidFill>
                  <a:srgbClr val="F8FAFC"/>
                </a:solidFill>
              </a:defRPr>
            </a:pPr>
            <a:r>
              <a:t>• Cloud Processing Latency: </a:t>
            </a:r>
          </a:p>
          <a:p>
            <a:pPr>
              <a:spcAft>
                <a:spcPts val="800"/>
              </a:spcAft>
              <a:defRPr sz="900">
                <a:solidFill>
                  <a:srgbClr val="CBD5E1"/>
                </a:solidFill>
              </a:defRPr>
            </a:pPr>
            <a:r>
              <a:t>  Ingestion, queuing, cloud ML inference, and alert relay introduce seconds of critical delay when milliseconds matter.</a:t>
            </a:r>
          </a:p>
          <a:p>
            <a:pPr>
              <a:spcAft>
                <a:spcPts val="400"/>
              </a:spcAft>
              <a:defRPr sz="950" b="1">
                <a:solidFill>
                  <a:srgbClr val="F8FAFC"/>
                </a:solidFill>
              </a:defRPr>
            </a:pPr>
            <a:r>
              <a:t>• No Local Consensus: </a:t>
            </a:r>
          </a:p>
          <a:p>
            <a:pPr>
              <a:spcAft>
                <a:spcPts val="800"/>
              </a:spcAft>
              <a:defRPr sz="900">
                <a:solidFill>
                  <a:srgbClr val="CBD5E1"/>
                </a:solidFill>
              </a:defRPr>
            </a:pPr>
            <a:r>
              <a:t>  Central systems lack spatial proximity awareness; they process data in isolation rather than cross-verifying with proximate physical neighbors.</a:t>
            </a:r>
          </a:p>
          <a:p>
            <a:pPr>
              <a:spcAft>
                <a:spcPts val="400"/>
              </a:spcAft>
              <a:defRPr sz="950" b="1">
                <a:solidFill>
                  <a:srgbClr val="F8FAFC"/>
                </a:solidFill>
              </a:defRPr>
            </a:pPr>
            <a:r>
              <a:t>• Rigid, Fragile Topologies: </a:t>
            </a:r>
          </a:p>
          <a:p>
            <a:pPr>
              <a:spcAft>
                <a:spcPts val="800"/>
              </a:spcAft>
              <a:defRPr sz="900">
                <a:solidFill>
                  <a:srgbClr val="CBD5E1"/>
                </a:solidFill>
              </a:defRPr>
            </a:pPr>
            <a:r>
              <a:t>  Standard IoT star topologies disconnect all downstream sensors when a single parent relay station is destroyed.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INNOVATION &amp; APPROACH</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Proposed Solution: Decentralized Edge Intelligence &amp; Dynamic Topology</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4389120"/>
          </a:xfrm>
          <a:prstGeom prst="rect">
            <a:avLst/>
          </a:prstGeom>
          <a:noFill/>
        </p:spPr>
        <p:txBody>
          <a:bodyPr wrap="square">
            <a:spAutoFit/>
          </a:bodyPr>
          <a:lstStyle/>
          <a:p>
            <a:pPr>
              <a:spcAft>
                <a:spcPts val="1400"/>
              </a:spcAft>
              <a:defRPr sz="1300" b="1">
                <a:solidFill>
                  <a:srgbClr val="00F5D4"/>
                </a:solidFill>
              </a:defRPr>
            </a:pPr>
            <a:r>
              <a:t>1. ON-NODE EDGE AI</a:t>
            </a:r>
          </a:p>
          <a:p>
            <a:pPr>
              <a:defRPr sz="1000" b="1">
                <a:solidFill>
                  <a:srgbClr val="F8FAFC"/>
                </a:solidFill>
              </a:defRPr>
            </a:pPr>
            <a:r>
              <a:t>Autonomous Sensing:</a:t>
            </a:r>
          </a:p>
          <a:p>
            <a:pPr>
              <a:spcAft>
                <a:spcPts val="1000"/>
              </a:spcAft>
              <a:defRPr sz="900">
                <a:solidFill>
                  <a:srgbClr val="CBD5E1"/>
                </a:solidFill>
              </a:defRPr>
            </a:pPr>
            <a:r>
              <a:t>Continuous edge tracking of 6 environmental telemetry streams.</a:t>
            </a:r>
          </a:p>
          <a:p>
            <a:pPr>
              <a:defRPr sz="1000" b="1">
                <a:solidFill>
                  <a:srgbClr val="F8FAFC"/>
                </a:solidFill>
              </a:defRPr>
            </a:pPr>
            <a:r>
              <a:t>Isolation Forest Inference:</a:t>
            </a:r>
          </a:p>
          <a:p>
            <a:pPr>
              <a:spcAft>
                <a:spcPts val="1000"/>
              </a:spcAft>
              <a:defRPr sz="900">
                <a:solidFill>
                  <a:srgbClr val="CBD5E1"/>
                </a:solidFill>
              </a:defRPr>
            </a:pPr>
            <a:r>
              <a:t>Trained unsupervised ML model runs locally on node; computes decision score in &lt;2ms.</a:t>
            </a:r>
          </a:p>
          <a:p>
            <a:pPr>
              <a:defRPr sz="1000" b="1">
                <a:solidFill>
                  <a:srgbClr val="F8FAFC"/>
                </a:solidFill>
              </a:defRPr>
            </a:pPr>
            <a:r>
              <a:t>Contextual Event Classifier:</a:t>
            </a:r>
          </a:p>
          <a:p>
            <a:pPr>
              <a:spcAft>
                <a:spcPts val="1000"/>
              </a:spcAft>
              <a:defRPr sz="900">
                <a:solidFill>
                  <a:srgbClr val="CBD5E1"/>
                </a:solidFill>
              </a:defRPr>
            </a:pPr>
            <a:r>
              <a:t>Categorizes anomalies into FIRE, POLLUTION, or EXTREME HEAT without cloud consultation.</a:t>
            </a:r>
          </a:p>
        </p:txBody>
      </p:sp>
      <p:sp>
        <p:nvSpPr>
          <p:cNvPr id="9" name="Rounded Rectangle 8"/>
          <p:cNvSpPr/>
          <p:nvPr/>
        </p:nvSpPr>
        <p:spPr>
          <a:xfrm>
            <a:off x="4434840" y="1463040"/>
            <a:ext cx="33375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45920"/>
            <a:ext cx="2971800" cy="4389120"/>
          </a:xfrm>
          <a:prstGeom prst="rect">
            <a:avLst/>
          </a:prstGeom>
          <a:noFill/>
        </p:spPr>
        <p:txBody>
          <a:bodyPr wrap="square">
            <a:spAutoFit/>
          </a:bodyPr>
          <a:lstStyle/>
          <a:p>
            <a:pPr>
              <a:spcAft>
                <a:spcPts val="1400"/>
              </a:spcAft>
              <a:defRPr sz="1300" b="1">
                <a:solidFill>
                  <a:srgbClr val="38BDF8"/>
                </a:solidFill>
              </a:defRPr>
            </a:pPr>
            <a:r>
              <a:t>2. P2P NEIGHBOR CONSENSUS</a:t>
            </a:r>
          </a:p>
          <a:p>
            <a:pPr>
              <a:defRPr sz="1000" b="1">
                <a:solidFill>
                  <a:srgbClr val="F8FAFC"/>
                </a:solidFill>
              </a:defRPr>
            </a:pPr>
            <a:r>
              <a:t>Localized Alert Broadcast:</a:t>
            </a:r>
          </a:p>
          <a:p>
            <a:pPr>
              <a:spcAft>
                <a:spcPts val="1000"/>
              </a:spcAft>
              <a:defRPr sz="900">
                <a:solidFill>
                  <a:srgbClr val="CBD5E1"/>
                </a:solidFill>
              </a:defRPr>
            </a:pPr>
            <a:r>
              <a:t>Anomalous agents broadcast alert payloads strictly to active proximate neighbors.</a:t>
            </a:r>
          </a:p>
          <a:p>
            <a:pPr>
              <a:defRPr sz="1000" b="1">
                <a:solidFill>
                  <a:srgbClr val="F8FAFC"/>
                </a:solidFill>
              </a:defRPr>
            </a:pPr>
            <a:r>
              <a:t>Weighted Spatial Quorum:</a:t>
            </a:r>
          </a:p>
          <a:p>
            <a:pPr>
              <a:spcAft>
                <a:spcPts val="1000"/>
              </a:spcAft>
              <a:defRPr sz="900">
                <a:solidFill>
                  <a:srgbClr val="CBD5E1"/>
                </a:solidFill>
              </a:defRPr>
            </a:pPr>
            <a:r>
              <a:t>Confidence = Agreeing Neighbors / Total Active Neighborhood.</a:t>
            </a:r>
          </a:p>
          <a:p>
            <a:pPr>
              <a:defRPr sz="1000" b="1">
                <a:solidFill>
                  <a:srgbClr val="F8FAFC"/>
                </a:solidFill>
              </a:defRPr>
            </a:pPr>
            <a:r>
              <a:t>False Alarm Rejection:</a:t>
            </a:r>
          </a:p>
          <a:p>
            <a:pPr>
              <a:spcAft>
                <a:spcPts val="1000"/>
              </a:spcAft>
              <a:defRPr sz="900">
                <a:solidFill>
                  <a:srgbClr val="CBD5E1"/>
                </a:solidFill>
              </a:defRPr>
            </a:pPr>
            <a:r>
              <a:t>Threshold gate (θ ≥ 0.50) guarantees solitary sensor glitches are rejected instantly.</a:t>
            </a:r>
          </a:p>
        </p:txBody>
      </p:sp>
      <p:sp>
        <p:nvSpPr>
          <p:cNvPr id="11" name="Rounded Rectangle 10"/>
          <p:cNvSpPr/>
          <p:nvPr/>
        </p:nvSpPr>
        <p:spPr>
          <a:xfrm>
            <a:off x="8138160" y="1463040"/>
            <a:ext cx="3337560" cy="47548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45920"/>
            <a:ext cx="2971800" cy="4389120"/>
          </a:xfrm>
          <a:prstGeom prst="rect">
            <a:avLst/>
          </a:prstGeom>
          <a:noFill/>
        </p:spPr>
        <p:txBody>
          <a:bodyPr wrap="square">
            <a:spAutoFit/>
          </a:bodyPr>
          <a:lstStyle/>
          <a:p>
            <a:pPr>
              <a:spcAft>
                <a:spcPts val="1400"/>
              </a:spcAft>
              <a:defRPr sz="1300" b="1">
                <a:solidFill>
                  <a:srgbClr val="A855F7"/>
                </a:solidFill>
              </a:defRPr>
            </a:pPr>
            <a:r>
              <a:t>3. SELF-ORGANIZING MESH</a:t>
            </a:r>
          </a:p>
          <a:p>
            <a:pPr>
              <a:defRPr sz="1000" b="1">
                <a:solidFill>
                  <a:srgbClr val="F8FAFC"/>
                </a:solidFill>
              </a:defRPr>
            </a:pPr>
            <a:r>
              <a:t>Dynamic Failure Detection:</a:t>
            </a:r>
          </a:p>
          <a:p>
            <a:pPr>
              <a:spcAft>
                <a:spcPts val="1000"/>
              </a:spcAft>
              <a:defRPr sz="900">
                <a:solidFill>
                  <a:srgbClr val="CBD5E1"/>
                </a:solidFill>
              </a:defRPr>
            </a:pPr>
            <a:r>
              <a:t>Immediate recognition of physical node destruction or dead communication links.</a:t>
            </a:r>
          </a:p>
          <a:p>
            <a:pPr>
              <a:defRPr sz="1000" b="1">
                <a:solidFill>
                  <a:srgbClr val="F8FAFC"/>
                </a:solidFill>
              </a:defRPr>
            </a:pPr>
            <a:r>
              <a:t>Proximity Link Restoration:</a:t>
            </a:r>
          </a:p>
          <a:p>
            <a:pPr>
              <a:spcAft>
                <a:spcPts val="1000"/>
              </a:spcAft>
              <a:defRPr sz="900">
                <a:solidFill>
                  <a:srgbClr val="CBD5E1"/>
                </a:solidFill>
              </a:defRPr>
            </a:pPr>
            <a:r>
              <a:t>Searches active orphan nodes within Manhattan proximity: D(A,B) = |Δx| + |Δy| ≤ 4.</a:t>
            </a:r>
          </a:p>
          <a:p>
            <a:pPr>
              <a:defRPr sz="1000" b="1">
                <a:solidFill>
                  <a:srgbClr val="F8FAFC"/>
                </a:solidFill>
              </a:defRPr>
            </a:pPr>
            <a:r>
              <a:t>Sub-20ms Graph Healing:</a:t>
            </a:r>
          </a:p>
          <a:p>
            <a:pPr>
              <a:spcAft>
                <a:spcPts val="1000"/>
              </a:spcAft>
              <a:defRPr sz="900">
                <a:solidFill>
                  <a:srgbClr val="CBD5E1"/>
                </a:solidFill>
              </a:defRPr>
            </a:pPr>
            <a:r>
              <a:t>Restores global biconnectivity autonomously before network partitions escalate.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SCOPE &amp; DELIVERABLES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Project Objectives: Primary Goals, Secondary Features &amp; Targets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51663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389120"/>
          </a:xfrm>
          <a:prstGeom prst="rect">
            <a:avLst/>
          </a:prstGeom>
          <a:noFill/>
        </p:spPr>
        <p:txBody>
          <a:bodyPr wrap="square">
            <a:spAutoFit/>
          </a:bodyPr>
          <a:lstStyle/>
          <a:p>
            <a:pPr>
              <a:spcAft>
                <a:spcPts val="1000"/>
              </a:spcAft>
              <a:defRPr sz="1300" b="1">
                <a:solidFill>
                  <a:srgbClr val="00F5D4"/>
                </a:solidFill>
              </a:defRPr>
            </a:pPr>
            <a:r>
              <a:t>PRIMARY SYSTEM OBJECTIVES</a:t>
            </a:r>
          </a:p>
          <a:p>
            <a:pPr>
              <a:defRPr sz="950" b="1">
                <a:solidFill>
                  <a:srgbClr val="F8FAFC"/>
                </a:solidFill>
              </a:defRPr>
            </a:pPr>
            <a:r>
              <a:t>1. Autonomous 6-Sensor Telemetry Grid: </a:t>
            </a:r>
          </a:p>
          <a:p>
            <a:pPr>
              <a:spcAft>
                <a:spcPts val="600"/>
              </a:spcAft>
              <a:defRPr sz="880">
                <a:solidFill>
                  <a:srgbClr val="CBD5E1"/>
                </a:solidFill>
              </a:defRPr>
            </a:pPr>
            <a:r>
              <a:t>Deploy multi-agent sensor nodes monitoring Temperature, Humidity, Smoke Density, CO2, AQI, and Soil Moisture.</a:t>
            </a:r>
          </a:p>
          <a:p>
            <a:pPr>
              <a:defRPr sz="950" b="1">
                <a:solidFill>
                  <a:srgbClr val="F8FAFC"/>
                </a:solidFill>
              </a:defRPr>
            </a:pPr>
            <a:r>
              <a:t>2. Edge Anomaly Detection: </a:t>
            </a:r>
          </a:p>
          <a:p>
            <a:pPr>
              <a:spcAft>
                <a:spcPts val="600"/>
              </a:spcAft>
              <a:defRPr sz="880">
                <a:solidFill>
                  <a:srgbClr val="CBD5E1"/>
                </a:solidFill>
              </a:defRPr>
            </a:pPr>
            <a:r>
              <a:t>Embed an Isolation Forest model (200 trees, 0.05 contamination) to perform unsupervised anomaly scoring locally.</a:t>
            </a:r>
          </a:p>
          <a:p>
            <a:pPr>
              <a:defRPr sz="950" b="1">
                <a:solidFill>
                  <a:srgbClr val="F8FAFC"/>
                </a:solidFill>
              </a:defRPr>
            </a:pPr>
            <a:r>
              <a:t>3. Contextual Hazard Classification: </a:t>
            </a:r>
          </a:p>
          <a:p>
            <a:pPr>
              <a:spcAft>
                <a:spcPts val="600"/>
              </a:spcAft>
              <a:defRPr sz="880">
                <a:solidFill>
                  <a:srgbClr val="CBD5E1"/>
                </a:solidFill>
              </a:defRPr>
            </a:pPr>
            <a:r>
              <a:t>Implement rule-based classification mapping multidimensional anomalies to FIRE, POLLUTION, EXTREME HEAT, or OTHER.</a:t>
            </a:r>
          </a:p>
          <a:p>
            <a:pPr>
              <a:defRPr sz="950" b="1">
                <a:solidFill>
                  <a:srgbClr val="F8FAFC"/>
                </a:solidFill>
              </a:defRPr>
            </a:pPr>
            <a:r>
              <a:t>4. Peer-to-Peer Consensus Mechanism: </a:t>
            </a:r>
          </a:p>
          <a:p>
            <a:pPr>
              <a:spcAft>
                <a:spcPts val="600"/>
              </a:spcAft>
              <a:defRPr sz="880">
                <a:solidFill>
                  <a:srgbClr val="CBD5E1"/>
                </a:solidFill>
              </a:defRPr>
            </a:pPr>
            <a:r>
              <a:t>Build localized neighbor voting protocol to calculate quorum confidence and confirm hazard incidents.</a:t>
            </a:r>
          </a:p>
          <a:p>
            <a:pPr>
              <a:defRPr sz="950" b="1">
                <a:solidFill>
                  <a:srgbClr val="F8FAFC"/>
                </a:solidFill>
              </a:defRPr>
            </a:pPr>
            <a:r>
              <a:t>5. Autonomous Topology Self-Organization: </a:t>
            </a:r>
          </a:p>
          <a:p>
            <a:pPr>
              <a:spcAft>
                <a:spcPts val="600"/>
              </a:spcAft>
              <a:defRPr sz="880">
                <a:solidFill>
                  <a:srgbClr val="CBD5E1"/>
                </a:solidFill>
              </a:defRPr>
            </a:pPr>
            <a:r>
              <a:t>Develop Manhattan proximity graph restructuring using NetworkX to reconnect severed mesh nodes in &lt;20ms.</a:t>
            </a:r>
          </a:p>
        </p:txBody>
      </p:sp>
      <p:sp>
        <p:nvSpPr>
          <p:cNvPr id="9" name="Rounded Rectangle 8"/>
          <p:cNvSpPr/>
          <p:nvPr/>
        </p:nvSpPr>
        <p:spPr>
          <a:xfrm>
            <a:off x="6309360" y="1463040"/>
            <a:ext cx="51663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709160" cy="4389120"/>
          </a:xfrm>
          <a:prstGeom prst="rect">
            <a:avLst/>
          </a:prstGeom>
          <a:noFill/>
        </p:spPr>
        <p:txBody>
          <a:bodyPr wrap="square">
            <a:spAutoFit/>
          </a:bodyPr>
          <a:lstStyle/>
          <a:p>
            <a:pPr>
              <a:spcAft>
                <a:spcPts val="1000"/>
              </a:spcAft>
              <a:defRPr sz="1300" b="1">
                <a:solidFill>
                  <a:srgbClr val="38BDF8"/>
                </a:solidFill>
              </a:defRPr>
            </a:pPr>
            <a:r>
              <a:t>SECONDARY OBJECTIVES &amp; TARGET BENCHMARKS</a:t>
            </a:r>
          </a:p>
          <a:p>
            <a:pPr>
              <a:defRPr sz="950" b="1">
                <a:solidFill>
                  <a:srgbClr val="F8FAFC"/>
                </a:solidFill>
              </a:defRPr>
            </a:pPr>
            <a:r>
              <a:t>Full Mission Control Web UI: </a:t>
            </a:r>
          </a:p>
          <a:p>
            <a:pPr>
              <a:spcAft>
                <a:spcPts val="600"/>
              </a:spcAft>
              <a:defRPr sz="880">
                <a:solidFill>
                  <a:srgbClr val="CBD5E1"/>
                </a:solidFill>
              </a:defRPr>
            </a:pPr>
            <a:r>
              <a:t>Develop a responsive Next.js 14 / TypeScript dashboard across 6 operational domains (Command Center, Agents, Network, Incidents, Analytics, History).</a:t>
            </a:r>
          </a:p>
          <a:p>
            <a:pPr>
              <a:defRPr sz="950" b="1">
                <a:solidFill>
                  <a:srgbClr val="F8FAFC"/>
                </a:solidFill>
              </a:defRPr>
            </a:pPr>
            <a:r>
              <a:t>Asynchronous REST &amp; WebSocket Server: </a:t>
            </a:r>
          </a:p>
          <a:p>
            <a:pPr>
              <a:spcAft>
                <a:spcPts val="600"/>
              </a:spcAft>
              <a:defRPr sz="880">
                <a:solidFill>
                  <a:srgbClr val="CBD5E1"/>
                </a:solidFill>
              </a:defRPr>
            </a:pPr>
            <a:r>
              <a:t>Implement FastAPI backend with 22 REST endpoints and real-time bidirectional WebSocket state streaming.</a:t>
            </a:r>
          </a:p>
          <a:p>
            <a:pPr>
              <a:defRPr sz="950" b="1">
                <a:solidFill>
                  <a:srgbClr val="F8FAFC"/>
                </a:solidFill>
              </a:defRPr>
            </a:pPr>
            <a:r>
              <a:t>Relational Persistence Schema: </a:t>
            </a:r>
          </a:p>
          <a:p>
            <a:pPr>
              <a:spcAft>
                <a:spcPts val="600"/>
              </a:spcAft>
              <a:defRPr sz="880">
                <a:solidFill>
                  <a:srgbClr val="CBD5E1"/>
                </a:solidFill>
              </a:defRPr>
            </a:pPr>
            <a:r>
              <a:t>Design 7 SQLAlchemy database tables logging node health, incident history, consensus evidence, and topology changes.</a:t>
            </a:r>
          </a:p>
          <a:p>
            <a:pPr>
              <a:defRPr sz="950" b="1">
                <a:solidFill>
                  <a:srgbClr val="F8FAFC"/>
                </a:solidFill>
              </a:defRPr>
            </a:pPr>
            <a:r>
              <a:t>Empirical Target 1 — Latency: </a:t>
            </a:r>
          </a:p>
          <a:p>
            <a:pPr>
              <a:spcAft>
                <a:spcPts val="600"/>
              </a:spcAft>
              <a:defRPr sz="880">
                <a:solidFill>
                  <a:srgbClr val="CBD5E1"/>
                </a:solidFill>
              </a:defRPr>
            </a:pPr>
            <a:r>
              <a:t>Achieve edge inference &lt;2ms and network partition recovery &lt;20ms.</a:t>
            </a:r>
          </a:p>
          <a:p>
            <a:pPr>
              <a:defRPr sz="950" b="1">
                <a:solidFill>
                  <a:srgbClr val="F8FAFC"/>
                </a:solidFill>
              </a:defRPr>
            </a:pPr>
            <a:r>
              <a:t>Empirical Target 2 — Quorum Accuracy: </a:t>
            </a:r>
          </a:p>
          <a:p>
            <a:pPr>
              <a:spcAft>
                <a:spcPts val="600"/>
              </a:spcAft>
              <a:defRPr sz="880">
                <a:solidFill>
                  <a:srgbClr val="CBD5E1"/>
                </a:solidFill>
              </a:defRPr>
            </a:pPr>
            <a:r>
              <a:t>Ensure incident detection confidence exceeds 85% during active multi-agent hazards while rejecting solitary sensor noise.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SYSTEM DESIGN &amp; DECOMPOSITION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System Architecture: End-to-End Multilayer Technical Blueprint</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pic>
        <p:nvPicPr>
          <p:cNvPr id="7" name="Picture 6" descr="Project_Architecture.png"/>
          <p:cNvPicPr>
            <a:picLocks noChangeAspect="1"/>
          </p:cNvPicPr>
          <p:nvPr/>
        </p:nvPicPr>
        <p:blipFill>
          <a:blip r:embed="rId2"/>
          <a:stretch>
            <a:fillRect/>
          </a:stretch>
        </p:blipFill>
        <p:spPr>
          <a:xfrm>
            <a:off x="731520" y="1371600"/>
            <a:ext cx="7772400" cy="4846320"/>
          </a:xfrm>
          <a:prstGeom prst="rect">
            <a:avLst/>
          </a:prstGeom>
        </p:spPr>
      </p:pic>
      <p:sp>
        <p:nvSpPr>
          <p:cNvPr id="8" name="Rounded Rectangle 7"/>
          <p:cNvSpPr/>
          <p:nvPr/>
        </p:nvSpPr>
        <p:spPr>
          <a:xfrm>
            <a:off x="8686800" y="1371600"/>
            <a:ext cx="2788920" cy="484632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508760"/>
            <a:ext cx="2514600" cy="4572000"/>
          </a:xfrm>
          <a:prstGeom prst="rect">
            <a:avLst/>
          </a:prstGeom>
          <a:noFill/>
        </p:spPr>
        <p:txBody>
          <a:bodyPr wrap="square">
            <a:spAutoFit/>
          </a:bodyPr>
          <a:lstStyle/>
          <a:p>
            <a:pPr>
              <a:spcAft>
                <a:spcPts val="800"/>
              </a:spcAft>
              <a:defRPr sz="1100" b="1">
                <a:solidFill>
                  <a:srgbClr val="00F5D4"/>
                </a:solidFill>
              </a:defRPr>
            </a:pPr>
            <a:r>
              <a:t>ARCHITECTURAL LAYERS</a:t>
            </a:r>
          </a:p>
          <a:p>
            <a:pPr>
              <a:defRPr sz="950" b="1">
                <a:solidFill>
                  <a:srgbClr val="F8FAFC"/>
                </a:solidFill>
              </a:defRPr>
            </a:pPr>
            <a:r>
              <a:t>1. Web Presentation</a:t>
            </a:r>
          </a:p>
          <a:p>
            <a:pPr>
              <a:spcAft>
                <a:spcPts val="800"/>
              </a:spcAft>
              <a:defRPr sz="850">
                <a:solidFill>
                  <a:srgbClr val="CBD5E1"/>
                </a:solidFill>
              </a:defRPr>
            </a:pPr>
            <a:r>
              <a:t>Next.js 14, React 18, Leaflet GIS, Recharts SVG charts, real-time WebSocket HUD.</a:t>
            </a:r>
          </a:p>
          <a:p>
            <a:pPr>
              <a:defRPr sz="950" b="1">
                <a:solidFill>
                  <a:srgbClr val="F8FAFC"/>
                </a:solidFill>
              </a:defRPr>
            </a:pPr>
            <a:r>
              <a:t>2. API &amp; Orchestration</a:t>
            </a:r>
          </a:p>
          <a:p>
            <a:pPr>
              <a:spcAft>
                <a:spcPts val="800"/>
              </a:spcAft>
              <a:defRPr sz="850">
                <a:solidFill>
                  <a:srgbClr val="CBD5E1"/>
                </a:solidFill>
              </a:defRPr>
            </a:pPr>
            <a:r>
              <a:t>FastAPI server, Uvicorn ASGI, 22 REST endpoints, WebSocketManager broadcast.</a:t>
            </a:r>
          </a:p>
          <a:p>
            <a:pPr>
              <a:defRPr sz="950" b="1">
                <a:solidFill>
                  <a:srgbClr val="F8FAFC"/>
                </a:solidFill>
              </a:defRPr>
            </a:pPr>
            <a:r>
              <a:t>3. Edge Intelligence Triad</a:t>
            </a:r>
          </a:p>
          <a:p>
            <a:pPr>
              <a:spcAft>
                <a:spcPts val="800"/>
              </a:spcAft>
              <a:defRPr sz="850">
                <a:solidFill>
                  <a:srgbClr val="CBD5E1"/>
                </a:solidFill>
              </a:defRPr>
            </a:pPr>
            <a:r>
              <a:t>• AI Engine: Isolation Forest</a:t>
            </a:r>
            <a:br/>
            <a:r>
              <a:t>• Agent Engine: P2P Consensus</a:t>
            </a:r>
            <a:br/>
            <a:r>
              <a:t>• Network Engine: NetworkX graph</a:t>
            </a:r>
          </a:p>
          <a:p>
            <a:pPr>
              <a:defRPr sz="950" b="1">
                <a:solidFill>
                  <a:srgbClr val="F8FAFC"/>
                </a:solidFill>
              </a:defRPr>
            </a:pPr>
            <a:r>
              <a:t>4. Persistent Storage</a:t>
            </a:r>
          </a:p>
          <a:p>
            <a:pPr>
              <a:spcAft>
                <a:spcPts val="800"/>
              </a:spcAft>
              <a:defRPr sz="850">
                <a:solidFill>
                  <a:srgbClr val="CBD5E1"/>
                </a:solidFill>
              </a:defRPr>
            </a:pPr>
            <a:r>
              <a:t>SQLAlchemy 2.0 ORM with SQLite (local) / PostgreSQL (production); 7 relational tables.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CORE THEORETICAL PARADIGM</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Multi-Agent Architecture: Decentralized Peer-to-Peer vs Centralized</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10744200" cy="146304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10378440" cy="1188720"/>
          </a:xfrm>
          <a:prstGeom prst="rect">
            <a:avLst/>
          </a:prstGeom>
          <a:noFill/>
        </p:spPr>
        <p:txBody>
          <a:bodyPr wrap="square">
            <a:spAutoFit/>
          </a:bodyPr>
          <a:lstStyle/>
          <a:p>
            <a:pPr>
              <a:spcAft>
                <a:spcPts val="600"/>
              </a:spcAft>
              <a:defRPr sz="1200" b="1">
                <a:solidFill>
                  <a:srgbClr val="A855F7"/>
                </a:solidFill>
              </a:defRPr>
            </a:pPr>
            <a:r>
              <a:t>WHY A MULTI-AGENT SYSTEM (MAS) INSTEAD OF A SINGLE MONOLITHIC MODEL?</a:t>
            </a:r>
          </a:p>
          <a:p>
            <a:pPr>
              <a:defRPr sz="950">
                <a:solidFill>
                  <a:srgbClr val="CBD5E1"/>
                </a:solidFill>
              </a:defRPr>
            </a:pPr>
            <a:r>
              <a:t>A single centralized model requires continuous telemetry transmission from every sensor to the cloud. In contrast, Multi-Agent Systems distribute autonomy to the edge. Each node perceives local conditions, computes inferences independently, and communicates strictly with proximate peers. If an agent fails or is destroyed, the surrounding collective autonomously reconfigures without systemic collapse.</a:t>
            </a:r>
          </a:p>
        </p:txBody>
      </p:sp>
      <p:sp>
        <p:nvSpPr>
          <p:cNvPr id="9" name="Rounded Rectangle 8"/>
          <p:cNvSpPr/>
          <p:nvPr/>
        </p:nvSpPr>
        <p:spPr>
          <a:xfrm>
            <a:off x="731520" y="3108960"/>
            <a:ext cx="5166360" cy="310896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246120"/>
            <a:ext cx="4709160" cy="2834640"/>
          </a:xfrm>
          <a:prstGeom prst="rect">
            <a:avLst/>
          </a:prstGeom>
          <a:noFill/>
        </p:spPr>
        <p:txBody>
          <a:bodyPr wrap="square">
            <a:spAutoFit/>
          </a:bodyPr>
          <a:lstStyle/>
          <a:p>
            <a:pPr>
              <a:spcAft>
                <a:spcPts val="800"/>
              </a:spcAft>
              <a:defRPr sz="1100" b="1">
                <a:solidFill>
                  <a:srgbClr val="F43F5E"/>
                </a:solidFill>
              </a:defRPr>
            </a:pPr>
            <a:r>
              <a:t>TRADITIONAL CENTRALIZED ORCHESTRATION</a:t>
            </a:r>
          </a:p>
          <a:p>
            <a:pPr>
              <a:spcAft>
                <a:spcPts val="400"/>
              </a:spcAft>
              <a:defRPr sz="880">
                <a:solidFill>
                  <a:srgbClr val="CBD5E1"/>
                </a:solidFill>
              </a:defRPr>
            </a:pPr>
            <a:r>
              <a:t>✗ Master-Slave Dependency: Edge devices are dumb sensors; cloud orchestrator controls all logic.</a:t>
            </a:r>
          </a:p>
          <a:p>
            <a:pPr>
              <a:spcAft>
                <a:spcPts val="400"/>
              </a:spcAft>
              <a:defRPr sz="880">
                <a:solidFill>
                  <a:srgbClr val="CBD5E1"/>
                </a:solidFill>
              </a:defRPr>
            </a:pPr>
            <a:r>
              <a:t>✗ Communication Flooding: Raw continuous data transfers congest wireless bandwidth.</a:t>
            </a:r>
          </a:p>
          <a:p>
            <a:pPr>
              <a:spcAft>
                <a:spcPts val="400"/>
              </a:spcAft>
              <a:defRPr sz="880">
                <a:solidFill>
                  <a:srgbClr val="CBD5E1"/>
                </a:solidFill>
              </a:defRPr>
            </a:pPr>
            <a:r>
              <a:t>✗ Fragile Point of Failure: Ingress cloud outage disables entire regional monitoring.</a:t>
            </a:r>
          </a:p>
          <a:p>
            <a:pPr>
              <a:spcAft>
                <a:spcPts val="400"/>
              </a:spcAft>
              <a:defRPr sz="880">
                <a:solidFill>
                  <a:srgbClr val="CBD5E1"/>
                </a:solidFill>
              </a:defRPr>
            </a:pPr>
            <a:r>
              <a:t>✗ No Local Consensus: Cannot verify spatial coherence between adjacent sensors.</a:t>
            </a:r>
          </a:p>
        </p:txBody>
      </p:sp>
      <p:sp>
        <p:nvSpPr>
          <p:cNvPr id="11" name="Rounded Rectangle 10"/>
          <p:cNvSpPr/>
          <p:nvPr/>
        </p:nvSpPr>
        <p:spPr>
          <a:xfrm>
            <a:off x="6309360" y="3108960"/>
            <a:ext cx="5166360" cy="310896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3246120"/>
            <a:ext cx="4709160" cy="2834640"/>
          </a:xfrm>
          <a:prstGeom prst="rect">
            <a:avLst/>
          </a:prstGeom>
          <a:noFill/>
        </p:spPr>
        <p:txBody>
          <a:bodyPr wrap="square">
            <a:spAutoFit/>
          </a:bodyPr>
          <a:lstStyle/>
          <a:p>
            <a:pPr>
              <a:spcAft>
                <a:spcPts val="800"/>
              </a:spcAft>
              <a:defRPr sz="1100" b="1">
                <a:solidFill>
                  <a:srgbClr val="10B981"/>
                </a:solidFill>
              </a:defRPr>
            </a:pPr>
            <a:r>
              <a:t>OUR DECENTRALIZED MULTI-AGENT MESH</a:t>
            </a:r>
          </a:p>
          <a:p>
            <a:pPr>
              <a:spcAft>
                <a:spcPts val="400"/>
              </a:spcAft>
              <a:defRPr sz="880">
                <a:solidFill>
                  <a:srgbClr val="CBD5E1"/>
                </a:solidFill>
              </a:defRPr>
            </a:pPr>
            <a:r>
              <a:t>✓ Autonomous Edge Agents: Each agent runs its own ML inference and decision functions.</a:t>
            </a:r>
          </a:p>
          <a:p>
            <a:pPr>
              <a:spcAft>
                <a:spcPts val="400"/>
              </a:spcAft>
              <a:defRPr sz="880">
                <a:solidFill>
                  <a:srgbClr val="CBD5E1"/>
                </a:solidFill>
              </a:defRPr>
            </a:pPr>
            <a:r>
              <a:t>✓ Sparse Alert Transmission: Communication occurs only when statistically anomalous hazards occur.</a:t>
            </a:r>
          </a:p>
          <a:p>
            <a:pPr>
              <a:spcAft>
                <a:spcPts val="400"/>
              </a:spcAft>
              <a:defRPr sz="880">
                <a:solidFill>
                  <a:srgbClr val="CBD5E1"/>
                </a:solidFill>
              </a:defRPr>
            </a:pPr>
            <a:r>
              <a:t>✓ Zero Cloud Dependency: Detection and consensus succeed even during complete Internet blackouts.</a:t>
            </a:r>
          </a:p>
          <a:p>
            <a:pPr>
              <a:spcAft>
                <a:spcPts val="400"/>
              </a:spcAft>
              <a:defRPr sz="880">
                <a:solidFill>
                  <a:srgbClr val="CBD5E1"/>
                </a:solidFill>
              </a:defRPr>
            </a:pPr>
            <a:r>
              <a:t>✓ Autonomous Topology Healing: Mesh dynamically repairs severed links in under 20ms.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AGENT TAXONOMY &amp; ROLES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Implemented Agent Types: Functional Roles, Telemetry &amp; Decision Engine</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1965960" cy="475488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00200"/>
            <a:ext cx="1783080" cy="4480560"/>
          </a:xfrm>
          <a:prstGeom prst="rect">
            <a:avLst/>
          </a:prstGeom>
          <a:noFill/>
        </p:spPr>
        <p:txBody>
          <a:bodyPr wrap="square">
            <a:spAutoFit/>
          </a:bodyPr>
          <a:lstStyle/>
          <a:p>
            <a:pPr>
              <a:spcAft>
                <a:spcPts val="800"/>
              </a:spcAft>
              <a:defRPr sz="1050" b="1">
                <a:solidFill>
                  <a:srgbClr val="F43F5E"/>
                </a:solidFill>
              </a:defRPr>
            </a:pPr>
            <a:r>
              <a:t>Canopy Thermal Drone</a:t>
            </a:r>
          </a:p>
          <a:p>
            <a:pPr>
              <a:spcAft>
                <a:spcPts val="1000"/>
              </a:spcAft>
              <a:defRPr sz="819">
                <a:solidFill>
                  <a:srgbClr val="CBD5E1"/>
                </a:solidFill>
              </a:defRPr>
            </a:pPr>
            <a:r>
              <a:t>Aerial thermal &amp; combustion profiling</a:t>
            </a:r>
          </a:p>
          <a:p>
            <a:pPr>
              <a:defRPr sz="800" b="1">
                <a:solidFill>
                  <a:srgbClr val="F8FAFC"/>
                </a:solidFill>
              </a:defRPr>
            </a:pPr>
            <a:r>
              <a:t>INPUT SENSORS:</a:t>
            </a:r>
          </a:p>
          <a:p>
            <a:pPr>
              <a:spcAft>
                <a:spcPts val="800"/>
              </a:spcAft>
              <a:defRPr sz="780">
                <a:solidFill>
                  <a:srgbClr val="94A3B8"/>
                </a:solidFill>
              </a:defRPr>
            </a:pPr>
            <a:r>
              <a:t>Temp, Smoke, Battery</a:t>
            </a:r>
          </a:p>
          <a:p>
            <a:pPr>
              <a:defRPr sz="800" b="1">
                <a:solidFill>
                  <a:srgbClr val="F8FAFC"/>
                </a:solidFill>
              </a:defRPr>
            </a:pPr>
            <a:r>
              <a:t>DECISION LOGIC:</a:t>
            </a:r>
          </a:p>
          <a:p>
            <a:pPr>
              <a:spcAft>
                <a:spcPts val="800"/>
              </a:spcAft>
              <a:defRPr sz="780">
                <a:solidFill>
                  <a:srgbClr val="94A3B8"/>
                </a:solidFill>
              </a:defRPr>
            </a:pPr>
            <a:r>
              <a:t>High-temperature IR gradient &amp; smoke density</a:t>
            </a:r>
          </a:p>
          <a:p>
            <a:pPr>
              <a:defRPr sz="800" b="1">
                <a:solidFill>
                  <a:srgbClr val="F8FAFC"/>
                </a:solidFill>
              </a:defRPr>
            </a:pPr>
            <a:r>
              <a:t>MISSION ASSIGNMENT:</a:t>
            </a:r>
          </a:p>
          <a:p>
            <a:pPr>
              <a:defRPr sz="780">
                <a:solidFill>
                  <a:srgbClr val="94A3B8"/>
                </a:solidFill>
              </a:defRPr>
            </a:pPr>
            <a:r>
              <a:t>Combat fire spread; patrol transect</a:t>
            </a:r>
          </a:p>
        </p:txBody>
      </p:sp>
      <p:sp>
        <p:nvSpPr>
          <p:cNvPr id="9" name="Rounded Rectangle 8"/>
          <p:cNvSpPr/>
          <p:nvPr/>
        </p:nvSpPr>
        <p:spPr>
          <a:xfrm>
            <a:off x="2926080" y="1463040"/>
            <a:ext cx="19659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600200"/>
            <a:ext cx="1783080" cy="4480560"/>
          </a:xfrm>
          <a:prstGeom prst="rect">
            <a:avLst/>
          </a:prstGeom>
          <a:noFill/>
        </p:spPr>
        <p:txBody>
          <a:bodyPr wrap="square">
            <a:spAutoFit/>
          </a:bodyPr>
          <a:lstStyle/>
          <a:p>
            <a:pPr>
              <a:spcAft>
                <a:spcPts val="800"/>
              </a:spcAft>
              <a:defRPr sz="1050" b="1">
                <a:solidFill>
                  <a:srgbClr val="38BDF8"/>
                </a:solidFill>
              </a:defRPr>
            </a:pPr>
            <a:r>
              <a:t>Atmospheric Sentry Node</a:t>
            </a:r>
          </a:p>
          <a:p>
            <a:pPr>
              <a:spcAft>
                <a:spcPts val="1000"/>
              </a:spcAft>
              <a:defRPr sz="819">
                <a:solidFill>
                  <a:srgbClr val="CBD5E1"/>
                </a:solidFill>
              </a:defRPr>
            </a:pPr>
            <a:r>
              <a:t>Greenhouse gas &amp; aerosol monitoring</a:t>
            </a:r>
          </a:p>
          <a:p>
            <a:pPr>
              <a:defRPr sz="800" b="1">
                <a:solidFill>
                  <a:srgbClr val="F8FAFC"/>
                </a:solidFill>
              </a:defRPr>
            </a:pPr>
            <a:r>
              <a:t>INPUT SENSORS:</a:t>
            </a:r>
          </a:p>
          <a:p>
            <a:pPr>
              <a:spcAft>
                <a:spcPts val="800"/>
              </a:spcAft>
              <a:defRPr sz="780">
                <a:solidFill>
                  <a:srgbClr val="94A3B8"/>
                </a:solidFill>
              </a:defRPr>
            </a:pPr>
            <a:r>
              <a:t>CO2, AQI, Smoke</a:t>
            </a:r>
          </a:p>
          <a:p>
            <a:pPr>
              <a:defRPr sz="800" b="1">
                <a:solidFill>
                  <a:srgbClr val="F8FAFC"/>
                </a:solidFill>
              </a:defRPr>
            </a:pPr>
            <a:r>
              <a:t>DECISION LOGIC:</a:t>
            </a:r>
          </a:p>
          <a:p>
            <a:pPr>
              <a:spcAft>
                <a:spcPts val="800"/>
              </a:spcAft>
              <a:defRPr sz="780">
                <a:solidFill>
                  <a:srgbClr val="94A3B8"/>
                </a:solidFill>
              </a:defRPr>
            </a:pPr>
            <a:r>
              <a:t>CO2 thresholding (≥800ppm) &amp; particulate AQI</a:t>
            </a:r>
          </a:p>
          <a:p>
            <a:pPr>
              <a:defRPr sz="800" b="1">
                <a:solidFill>
                  <a:srgbClr val="F8FAFC"/>
                </a:solidFill>
              </a:defRPr>
            </a:pPr>
            <a:r>
              <a:t>MISSION ASSIGNMENT:</a:t>
            </a:r>
          </a:p>
          <a:p>
            <a:pPr>
              <a:defRPr sz="780">
                <a:solidFill>
                  <a:srgbClr val="94A3B8"/>
                </a:solidFill>
              </a:defRPr>
            </a:pPr>
            <a:r>
              <a:t>Plume trajectory &amp; toxic air warnings</a:t>
            </a:r>
          </a:p>
        </p:txBody>
      </p:sp>
      <p:sp>
        <p:nvSpPr>
          <p:cNvPr id="11" name="Rounded Rectangle 10"/>
          <p:cNvSpPr/>
          <p:nvPr/>
        </p:nvSpPr>
        <p:spPr>
          <a:xfrm>
            <a:off x="5120640" y="1463040"/>
            <a:ext cx="19659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79" y="1600200"/>
            <a:ext cx="1783080" cy="4480560"/>
          </a:xfrm>
          <a:prstGeom prst="rect">
            <a:avLst/>
          </a:prstGeom>
          <a:noFill/>
        </p:spPr>
        <p:txBody>
          <a:bodyPr wrap="square">
            <a:spAutoFit/>
          </a:bodyPr>
          <a:lstStyle/>
          <a:p>
            <a:pPr>
              <a:spcAft>
                <a:spcPts val="800"/>
              </a:spcAft>
              <a:defRPr sz="1050" b="1">
                <a:solidFill>
                  <a:srgbClr val="00F5D4"/>
                </a:solidFill>
              </a:defRPr>
            </a:pPr>
            <a:r>
              <a:t>Riparian Hydrology Sensor</a:t>
            </a:r>
          </a:p>
          <a:p>
            <a:pPr>
              <a:spcAft>
                <a:spcPts val="1000"/>
              </a:spcAft>
              <a:defRPr sz="819">
                <a:solidFill>
                  <a:srgbClr val="CBD5E1"/>
                </a:solidFill>
              </a:defRPr>
            </a:pPr>
            <a:r>
              <a:t>Watershed &amp; stream hydrological flux</a:t>
            </a:r>
          </a:p>
          <a:p>
            <a:pPr>
              <a:defRPr sz="800" b="1">
                <a:solidFill>
                  <a:srgbClr val="F8FAFC"/>
                </a:solidFill>
              </a:defRPr>
            </a:pPr>
            <a:r>
              <a:t>INPUT SENSORS:</a:t>
            </a:r>
          </a:p>
          <a:p>
            <a:pPr>
              <a:spcAft>
                <a:spcPts val="800"/>
              </a:spcAft>
              <a:defRPr sz="780">
                <a:solidFill>
                  <a:srgbClr val="94A3B8"/>
                </a:solidFill>
              </a:defRPr>
            </a:pPr>
            <a:r>
              <a:t>Soil Moisture, Humidity, Temp</a:t>
            </a:r>
          </a:p>
          <a:p>
            <a:pPr>
              <a:defRPr sz="800" b="1">
                <a:solidFill>
                  <a:srgbClr val="F8FAFC"/>
                </a:solidFill>
              </a:defRPr>
            </a:pPr>
            <a:r>
              <a:t>DECISION LOGIC:</a:t>
            </a:r>
          </a:p>
          <a:p>
            <a:pPr>
              <a:spcAft>
                <a:spcPts val="800"/>
              </a:spcAft>
              <a:defRPr sz="780">
                <a:solidFill>
                  <a:srgbClr val="94A3B8"/>
                </a:solidFill>
              </a:defRPr>
            </a:pPr>
            <a:r>
              <a:t>Soil dehydration &amp; riparian thermal baseline</a:t>
            </a:r>
          </a:p>
          <a:p>
            <a:pPr>
              <a:defRPr sz="800" b="1">
                <a:solidFill>
                  <a:srgbClr val="F8FAFC"/>
                </a:solidFill>
              </a:defRPr>
            </a:pPr>
            <a:r>
              <a:t>MISSION ASSIGNMENT:</a:t>
            </a:r>
          </a:p>
          <a:p>
            <a:pPr>
              <a:defRPr sz="780">
                <a:solidFill>
                  <a:srgbClr val="94A3B8"/>
                </a:solidFill>
              </a:defRPr>
            </a:pPr>
            <a:r>
              <a:t>Flash drought &amp; wetland boundary alerts</a:t>
            </a:r>
          </a:p>
        </p:txBody>
      </p:sp>
      <p:sp>
        <p:nvSpPr>
          <p:cNvPr id="13" name="Rounded Rectangle 12"/>
          <p:cNvSpPr/>
          <p:nvPr/>
        </p:nvSpPr>
        <p:spPr>
          <a:xfrm>
            <a:off x="7315200" y="1463040"/>
            <a:ext cx="1965960" cy="47548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0" y="1600200"/>
            <a:ext cx="1783080" cy="4480560"/>
          </a:xfrm>
          <a:prstGeom prst="rect">
            <a:avLst/>
          </a:prstGeom>
          <a:noFill/>
        </p:spPr>
        <p:txBody>
          <a:bodyPr wrap="square">
            <a:spAutoFit/>
          </a:bodyPr>
          <a:lstStyle/>
          <a:p>
            <a:pPr>
              <a:spcAft>
                <a:spcPts val="800"/>
              </a:spcAft>
              <a:defRPr sz="1050" b="1">
                <a:solidFill>
                  <a:srgbClr val="F59E0B"/>
                </a:solidFill>
              </a:defRPr>
            </a:pPr>
            <a:r>
              <a:t>Sub-Canopy Soil Probe</a:t>
            </a:r>
          </a:p>
          <a:p>
            <a:pPr>
              <a:spcAft>
                <a:spcPts val="1000"/>
              </a:spcAft>
              <a:defRPr sz="819">
                <a:solidFill>
                  <a:srgbClr val="CBD5E1"/>
                </a:solidFill>
              </a:defRPr>
            </a:pPr>
            <a:r>
              <a:t>Subterranean organic burn &amp; microbial heat</a:t>
            </a:r>
          </a:p>
          <a:p>
            <a:pPr>
              <a:defRPr sz="800" b="1">
                <a:solidFill>
                  <a:srgbClr val="F8FAFC"/>
                </a:solidFill>
              </a:defRPr>
            </a:pPr>
            <a:r>
              <a:t>INPUT SENSORS:</a:t>
            </a:r>
          </a:p>
          <a:p>
            <a:pPr>
              <a:spcAft>
                <a:spcPts val="800"/>
              </a:spcAft>
              <a:defRPr sz="780">
                <a:solidFill>
                  <a:srgbClr val="94A3B8"/>
                </a:solidFill>
              </a:defRPr>
            </a:pPr>
            <a:r>
              <a:t>Soil Moisture, Temp, Smoke</a:t>
            </a:r>
          </a:p>
          <a:p>
            <a:pPr>
              <a:defRPr sz="800" b="1">
                <a:solidFill>
                  <a:srgbClr val="F8FAFC"/>
                </a:solidFill>
              </a:defRPr>
            </a:pPr>
            <a:r>
              <a:t>DECISION LOGIC:</a:t>
            </a:r>
          </a:p>
          <a:p>
            <a:pPr>
              <a:spcAft>
                <a:spcPts val="800"/>
              </a:spcAft>
              <a:defRPr sz="780">
                <a:solidFill>
                  <a:srgbClr val="94A3B8"/>
                </a:solidFill>
              </a:defRPr>
            </a:pPr>
            <a:r>
              <a:t>Root-level smoldering &amp; soil dryness (&lt;25%)</a:t>
            </a:r>
          </a:p>
          <a:p>
            <a:pPr>
              <a:defRPr sz="800" b="1">
                <a:solidFill>
                  <a:srgbClr val="F8FAFC"/>
                </a:solidFill>
              </a:defRPr>
            </a:pPr>
            <a:r>
              <a:t>MISSION ASSIGNMENT:</a:t>
            </a:r>
          </a:p>
          <a:p>
            <a:pPr>
              <a:defRPr sz="780">
                <a:solidFill>
                  <a:srgbClr val="94A3B8"/>
                </a:solidFill>
              </a:defRPr>
            </a:pPr>
            <a:r>
              <a:t>Underground fire &amp; soil degradation tracking</a:t>
            </a:r>
          </a:p>
        </p:txBody>
      </p:sp>
      <p:sp>
        <p:nvSpPr>
          <p:cNvPr id="15" name="Rounded Rectangle 14"/>
          <p:cNvSpPr/>
          <p:nvPr/>
        </p:nvSpPr>
        <p:spPr>
          <a:xfrm>
            <a:off x="9509760" y="1463040"/>
            <a:ext cx="1965960" cy="47548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1600200"/>
            <a:ext cx="1783080" cy="4480560"/>
          </a:xfrm>
          <a:prstGeom prst="rect">
            <a:avLst/>
          </a:prstGeom>
          <a:noFill/>
        </p:spPr>
        <p:txBody>
          <a:bodyPr wrap="square">
            <a:spAutoFit/>
          </a:bodyPr>
          <a:lstStyle/>
          <a:p>
            <a:pPr>
              <a:spcAft>
                <a:spcPts val="800"/>
              </a:spcAft>
              <a:defRPr sz="1050" b="1">
                <a:solidFill>
                  <a:srgbClr val="A855F7"/>
                </a:solidFill>
              </a:defRPr>
            </a:pPr>
            <a:r>
              <a:t>Autonomous Mesh Relay</a:t>
            </a:r>
          </a:p>
          <a:p>
            <a:pPr>
              <a:spcAft>
                <a:spcPts val="1000"/>
              </a:spcAft>
              <a:defRPr sz="819">
                <a:solidFill>
                  <a:srgbClr val="CBD5E1"/>
                </a:solidFill>
              </a:defRPr>
            </a:pPr>
            <a:r>
              <a:t>P2P route routing &amp; consensus bridge</a:t>
            </a:r>
          </a:p>
          <a:p>
            <a:pPr>
              <a:defRPr sz="800" b="1">
                <a:solidFill>
                  <a:srgbClr val="F8FAFC"/>
                </a:solidFill>
              </a:defRPr>
            </a:pPr>
            <a:r>
              <a:t>INPUT SENSORS:</a:t>
            </a:r>
          </a:p>
          <a:p>
            <a:pPr>
              <a:spcAft>
                <a:spcPts val="800"/>
              </a:spcAft>
              <a:defRPr sz="780">
                <a:solidFill>
                  <a:srgbClr val="94A3B8"/>
                </a:solidFill>
              </a:defRPr>
            </a:pPr>
            <a:r>
              <a:t>Neighbor links, Connectivity, Latency</a:t>
            </a:r>
          </a:p>
          <a:p>
            <a:pPr>
              <a:defRPr sz="800" b="1">
                <a:solidFill>
                  <a:srgbClr val="F8FAFC"/>
                </a:solidFill>
              </a:defRPr>
            </a:pPr>
            <a:r>
              <a:t>DECISION LOGIC:</a:t>
            </a:r>
          </a:p>
          <a:p>
            <a:pPr>
              <a:spcAft>
                <a:spcPts val="800"/>
              </a:spcAft>
              <a:defRPr sz="780">
                <a:solidFill>
                  <a:srgbClr val="94A3B8"/>
                </a:solidFill>
              </a:defRPr>
            </a:pPr>
            <a:r>
              <a:t>Manhattan distance optimization (d ≤ 4)</a:t>
            </a:r>
          </a:p>
          <a:p>
            <a:pPr>
              <a:defRPr sz="800" b="1">
                <a:solidFill>
                  <a:srgbClr val="F8FAFC"/>
                </a:solidFill>
              </a:defRPr>
            </a:pPr>
            <a:r>
              <a:t>MISSION ASSIGNMENT:</a:t>
            </a:r>
          </a:p>
          <a:p>
            <a:pPr>
              <a:defRPr sz="780">
                <a:solidFill>
                  <a:srgbClr val="94A3B8"/>
                </a:solidFill>
              </a:defRPr>
            </a:pPr>
            <a:r>
              <a:t>Biconnectivity maintenance &amp; alert relay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PEER-TO-PEER PROTOCOL</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Agent-to-Agent Communication &amp; Neighborhood Consensus Mechanics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51663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389120"/>
          </a:xfrm>
          <a:prstGeom prst="rect">
            <a:avLst/>
          </a:prstGeom>
          <a:noFill/>
        </p:spPr>
        <p:txBody>
          <a:bodyPr wrap="square">
            <a:spAutoFit/>
          </a:bodyPr>
          <a:lstStyle/>
          <a:p>
            <a:pPr>
              <a:spcAft>
                <a:spcPts val="1000"/>
              </a:spcAft>
              <a:defRPr sz="1300" b="1">
                <a:solidFill>
                  <a:srgbClr val="00F5D4"/>
                </a:solidFill>
              </a:defRPr>
            </a:pPr>
            <a:r>
              <a:t>COMMUNICATION PROTOCOL SPECIFICATION</a:t>
            </a:r>
          </a:p>
          <a:p>
            <a:pPr>
              <a:defRPr sz="950" b="1">
                <a:solidFill>
                  <a:srgbClr val="F8FAFC"/>
                </a:solidFill>
              </a:defRPr>
            </a:pPr>
            <a:r>
              <a:t>CommunicationManager Architecture: </a:t>
            </a:r>
          </a:p>
          <a:p>
            <a:pPr>
              <a:spcAft>
                <a:spcPts val="600"/>
              </a:spcAft>
              <a:defRPr sz="880">
                <a:solidFill>
                  <a:srgbClr val="CBD5E1"/>
                </a:solidFill>
              </a:defRPr>
            </a:pPr>
            <a:r>
              <a:t>Asynchronous peer message dispatch. When an agent detects an anomaly, it avoids flood broadcasting and directly alerts active proximate neighbors.</a:t>
            </a:r>
          </a:p>
          <a:p>
            <a:pPr>
              <a:defRPr sz="950" b="1">
                <a:solidFill>
                  <a:srgbClr val="F8FAFC"/>
                </a:solidFill>
              </a:defRPr>
            </a:pPr>
            <a:r>
              <a:t>Alert Payload Schema: </a:t>
            </a:r>
          </a:p>
          <a:p>
            <a:pPr>
              <a:spcAft>
                <a:spcPts val="600"/>
              </a:spcAft>
              <a:defRPr sz="880">
                <a:solidFill>
                  <a:srgbClr val="CBD5E1"/>
                </a:solidFill>
              </a:defRPr>
            </a:pPr>
            <a:r>
              <a:t>Serialized JSON dictionary transmitting:</a:t>
            </a:r>
            <a:br/>
            <a:r>
              <a:t>• type: 'ENVIRONMENTAL_ALERT'</a:t>
            </a:r>
            <a:br/>
            <a:r>
              <a:t>• event: Hazard classification (FIRE, POLLUTION, EXTREME_HEAT)</a:t>
            </a:r>
            <a:br/>
            <a:r>
              <a:t>• score: Isolation Forest decision score (float)</a:t>
            </a:r>
          </a:p>
          <a:p>
            <a:pPr>
              <a:defRPr sz="950" b="1">
                <a:solidFill>
                  <a:srgbClr val="F8FAFC"/>
                </a:solidFill>
              </a:defRPr>
            </a:pPr>
            <a:r>
              <a:t>Bi-directional Handshake: </a:t>
            </a:r>
          </a:p>
          <a:p>
            <a:pPr>
              <a:spcAft>
                <a:spcPts val="600"/>
              </a:spcAft>
              <a:defRPr sz="880">
                <a:solidFill>
                  <a:srgbClr val="CBD5E1"/>
                </a:solidFill>
              </a:defRPr>
            </a:pPr>
            <a:r>
              <a:t>Neighbor nodes receive the message, append it to their local message buffer, and immediately trigger local evidence analysis.</a:t>
            </a:r>
          </a:p>
          <a:p>
            <a:pPr>
              <a:defRPr sz="950" b="1">
                <a:solidFill>
                  <a:srgbClr val="F8FAFC"/>
                </a:solidFill>
              </a:defRPr>
            </a:pPr>
            <a:r>
              <a:t>Zero Global Master: </a:t>
            </a:r>
          </a:p>
          <a:p>
            <a:pPr>
              <a:spcAft>
                <a:spcPts val="600"/>
              </a:spcAft>
              <a:defRPr sz="880">
                <a:solidFill>
                  <a:srgbClr val="CBD5E1"/>
                </a:solidFill>
              </a:defRPr>
            </a:pPr>
            <a:r>
              <a:t>No central broker (e.g. MQTT or Kafka) is mandatory for consensus; messages pass directly between local graph vertices.</a:t>
            </a:r>
          </a:p>
        </p:txBody>
      </p:sp>
      <p:sp>
        <p:nvSpPr>
          <p:cNvPr id="9" name="Rounded Rectangle 8"/>
          <p:cNvSpPr/>
          <p:nvPr/>
        </p:nvSpPr>
        <p:spPr>
          <a:xfrm>
            <a:off x="6309360" y="1463040"/>
            <a:ext cx="5166360" cy="475488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709160" cy="4389120"/>
          </a:xfrm>
          <a:prstGeom prst="rect">
            <a:avLst/>
          </a:prstGeom>
          <a:noFill/>
        </p:spPr>
        <p:txBody>
          <a:bodyPr wrap="square">
            <a:spAutoFit/>
          </a:bodyPr>
          <a:lstStyle/>
          <a:p>
            <a:pPr>
              <a:spcAft>
                <a:spcPts val="1000"/>
              </a:spcAft>
              <a:defRPr sz="1300" b="1">
                <a:solidFill>
                  <a:srgbClr val="10B981"/>
                </a:solidFill>
              </a:defRPr>
            </a:pPr>
            <a:r>
              <a:t>LOCAL NEIGHBORHOOD CONSENSUS ALGORITHM</a:t>
            </a:r>
          </a:p>
          <a:p>
            <a:pPr>
              <a:defRPr sz="1000" b="1">
                <a:solidFill>
                  <a:srgbClr val="F8FAFC"/>
                </a:solidFill>
              </a:defRPr>
            </a:pPr>
            <a:r>
              <a:t>Mathematical Quorum Formula:</a:t>
            </a:r>
          </a:p>
          <a:p>
            <a:pPr>
              <a:spcAft>
                <a:spcPts val="800"/>
              </a:spcAft>
              <a:defRPr sz="950" b="1">
                <a:solidFill>
                  <a:srgbClr val="00F5D4"/>
                </a:solidFill>
              </a:defRPr>
            </a:pPr>
            <a:r>
              <a:t>Confidence = (Count of Agreeing Neighbors) / (Total Active Local Neighborhood)</a:t>
            </a:r>
          </a:p>
          <a:p>
            <a:pPr>
              <a:defRPr sz="919" b="1">
                <a:solidFill>
                  <a:srgbClr val="F8FAFC"/>
                </a:solidFill>
              </a:defRPr>
            </a:pPr>
            <a:r>
              <a:t>Step 1 — Local Evidence Gathering: </a:t>
            </a:r>
          </a:p>
          <a:p>
            <a:pPr>
              <a:spcAft>
                <a:spcPts val="600"/>
              </a:spcAft>
              <a:defRPr sz="860">
                <a:solidFill>
                  <a:srgbClr val="CBD5E1"/>
                </a:solidFill>
              </a:defRPr>
            </a:pPr>
            <a:r>
              <a:t>The initiating agent polls all active neighbors within graph distance d ≤ 4. Each node contributes its independent AI inference.</a:t>
            </a:r>
          </a:p>
          <a:p>
            <a:pPr>
              <a:defRPr sz="919" b="1">
                <a:solidFill>
                  <a:srgbClr val="F8FAFC"/>
                </a:solidFill>
              </a:defRPr>
            </a:pPr>
            <a:r>
              <a:t>Step 2 — Quorum Evaluation: </a:t>
            </a:r>
          </a:p>
          <a:p>
            <a:pPr>
              <a:spcAft>
                <a:spcPts val="600"/>
              </a:spcAft>
              <a:defRPr sz="860">
                <a:solidFill>
                  <a:srgbClr val="CBD5E1"/>
                </a:solidFill>
              </a:defRPr>
            </a:pPr>
            <a:r>
              <a:t>If the dominant non-normal event count reaches threshold θ ≥ 0.50, consensus is CONFIRMED.</a:t>
            </a:r>
          </a:p>
          <a:p>
            <a:pPr>
              <a:defRPr sz="919" b="1">
                <a:solidFill>
                  <a:srgbClr val="F8FAFC"/>
                </a:solidFill>
              </a:defRPr>
            </a:pPr>
            <a:r>
              <a:t>Step 3 — False Alarm Suppression: </a:t>
            </a:r>
          </a:p>
          <a:p>
            <a:pPr>
              <a:spcAft>
                <a:spcPts val="600"/>
              </a:spcAft>
              <a:defRPr sz="860">
                <a:solidFill>
                  <a:srgbClr val="CBD5E1"/>
                </a:solidFill>
              </a:defRPr>
            </a:pPr>
            <a:r>
              <a:t>If a single sensor drifts due to hardware failure while neighbors report NORMAL, confidence falls below 0.50 and the alert is rejected as UNCERTAIN.</a:t>
            </a:r>
          </a:p>
          <a:p>
            <a:pPr>
              <a:defRPr sz="919" b="1">
                <a:solidFill>
                  <a:srgbClr val="F8FAFC"/>
                </a:solidFill>
              </a:defRPr>
            </a:pPr>
            <a:r>
              <a:t>Step 4 — Persistence: </a:t>
            </a:r>
          </a:p>
          <a:p>
            <a:pPr>
              <a:spcAft>
                <a:spcPts val="600"/>
              </a:spcAft>
              <a:defRPr sz="860">
                <a:solidFill>
                  <a:srgbClr val="CBD5E1"/>
                </a:solidFill>
              </a:defRPr>
            </a:pPr>
            <a:r>
              <a:t>Confirmed incidents are committed to the relational database with full voter distribution logs.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OPERATIONAL FLOW &amp; EXECUTION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Complete System Workflow: 8-Stage Sensing-to-Healing Lifecycle</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pic>
        <p:nvPicPr>
          <p:cNvPr id="7" name="Picture 6" descr="Agent_Workflow.png"/>
          <p:cNvPicPr>
            <a:picLocks noChangeAspect="1"/>
          </p:cNvPicPr>
          <p:nvPr/>
        </p:nvPicPr>
        <p:blipFill>
          <a:blip r:embed="rId2"/>
          <a:stretch>
            <a:fillRect/>
          </a:stretch>
        </p:blipFill>
        <p:spPr>
          <a:xfrm>
            <a:off x="731520" y="1371600"/>
            <a:ext cx="7772400" cy="4846320"/>
          </a:xfrm>
          <a:prstGeom prst="rect">
            <a:avLst/>
          </a:prstGeom>
        </p:spPr>
      </p:pic>
      <p:sp>
        <p:nvSpPr>
          <p:cNvPr id="8" name="Rounded Rectangle 7"/>
          <p:cNvSpPr/>
          <p:nvPr/>
        </p:nvSpPr>
        <p:spPr>
          <a:xfrm>
            <a:off x="8686800" y="1371600"/>
            <a:ext cx="2788920" cy="484632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508760"/>
            <a:ext cx="2514600" cy="4572000"/>
          </a:xfrm>
          <a:prstGeom prst="rect">
            <a:avLst/>
          </a:prstGeom>
          <a:noFill/>
        </p:spPr>
        <p:txBody>
          <a:bodyPr wrap="square">
            <a:spAutoFit/>
          </a:bodyPr>
          <a:lstStyle/>
          <a:p>
            <a:pPr>
              <a:spcAft>
                <a:spcPts val="800"/>
              </a:spcAft>
              <a:defRPr sz="1100" b="1">
                <a:solidFill>
                  <a:srgbClr val="A855F7"/>
                </a:solidFill>
              </a:defRPr>
            </a:pPr>
            <a:r>
              <a:t>LIFECYCLE SUMMARY</a:t>
            </a:r>
          </a:p>
          <a:p>
            <a:pPr>
              <a:defRPr sz="850" b="1">
                <a:solidFill>
                  <a:srgbClr val="F8FAFC"/>
                </a:solidFill>
              </a:defRPr>
            </a:pPr>
            <a:r>
              <a:t>1. Sensing &amp; Telemetry: </a:t>
            </a:r>
          </a:p>
          <a:p>
            <a:pPr>
              <a:spcAft>
                <a:spcPts val="400"/>
              </a:spcAft>
              <a:defRPr sz="780">
                <a:solidFill>
                  <a:srgbClr val="CBD5E1"/>
                </a:solidFill>
              </a:defRPr>
            </a:pPr>
            <a:r>
              <a:t>Continuous 6-sensor sampling at each physical edge node.</a:t>
            </a:r>
          </a:p>
          <a:p>
            <a:pPr>
              <a:defRPr sz="850" b="1">
                <a:solidFill>
                  <a:srgbClr val="F8FAFC"/>
                </a:solidFill>
              </a:defRPr>
            </a:pPr>
            <a:r>
              <a:t>2. ML Anomaly Scoring: </a:t>
            </a:r>
          </a:p>
          <a:p>
            <a:pPr>
              <a:spcAft>
                <a:spcPts val="400"/>
              </a:spcAft>
              <a:defRPr sz="780">
                <a:solidFill>
                  <a:srgbClr val="CBD5E1"/>
                </a:solidFill>
              </a:defRPr>
            </a:pPr>
            <a:r>
              <a:t>Isolation Forest computes local decision function score.</a:t>
            </a:r>
          </a:p>
          <a:p>
            <a:pPr>
              <a:defRPr sz="850" b="1">
                <a:solidFill>
                  <a:srgbClr val="F8FAFC"/>
                </a:solidFill>
              </a:defRPr>
            </a:pPr>
            <a:r>
              <a:t>3. Event Classification: </a:t>
            </a:r>
          </a:p>
          <a:p>
            <a:pPr>
              <a:spcAft>
                <a:spcPts val="400"/>
              </a:spcAft>
              <a:defRPr sz="780">
                <a:solidFill>
                  <a:srgbClr val="CBD5E1"/>
                </a:solidFill>
              </a:defRPr>
            </a:pPr>
            <a:r>
              <a:t>Maps anomaly patterns to FIRE, POLLUTION, or HEAT.</a:t>
            </a:r>
          </a:p>
          <a:p>
            <a:pPr>
              <a:defRPr sz="850" b="1">
                <a:solidFill>
                  <a:srgbClr val="F8FAFC"/>
                </a:solidFill>
              </a:defRPr>
            </a:pPr>
            <a:r>
              <a:t>4. P2P Alert Broadcast: </a:t>
            </a:r>
          </a:p>
          <a:p>
            <a:pPr>
              <a:spcAft>
                <a:spcPts val="400"/>
              </a:spcAft>
              <a:defRPr sz="780">
                <a:solidFill>
                  <a:srgbClr val="CBD5E1"/>
                </a:solidFill>
              </a:defRPr>
            </a:pPr>
            <a:r>
              <a:t>Direct localized transmission to proximate active peers.</a:t>
            </a:r>
          </a:p>
          <a:p>
            <a:pPr>
              <a:defRPr sz="850" b="1">
                <a:solidFill>
                  <a:srgbClr val="F8FAFC"/>
                </a:solidFill>
              </a:defRPr>
            </a:pPr>
            <a:r>
              <a:t>5. Local Consensus: </a:t>
            </a:r>
          </a:p>
          <a:p>
            <a:pPr>
              <a:spcAft>
                <a:spcPts val="400"/>
              </a:spcAft>
              <a:defRPr sz="780">
                <a:solidFill>
                  <a:srgbClr val="CBD5E1"/>
                </a:solidFill>
              </a:defRPr>
            </a:pPr>
            <a:r>
              <a:t>Quorum calculation validates hazard with confidence θ ≥ 0.50.</a:t>
            </a:r>
          </a:p>
          <a:p>
            <a:pPr>
              <a:defRPr sz="850" b="1">
                <a:solidFill>
                  <a:srgbClr val="F8FAFC"/>
                </a:solidFill>
              </a:defRPr>
            </a:pPr>
            <a:r>
              <a:t>6. Escalation &amp; Log: </a:t>
            </a:r>
          </a:p>
          <a:p>
            <a:pPr>
              <a:spcAft>
                <a:spcPts val="400"/>
              </a:spcAft>
              <a:defRPr sz="780">
                <a:solidFill>
                  <a:srgbClr val="CBD5E1"/>
                </a:solidFill>
              </a:defRPr>
            </a:pPr>
            <a:r>
              <a:t>Committed to SQLite/PostgreSQL and pushed to Web HUD.</a:t>
            </a:r>
          </a:p>
          <a:p>
            <a:pPr>
              <a:defRPr sz="850" b="1">
                <a:solidFill>
                  <a:srgbClr val="F8FAFC"/>
                </a:solidFill>
              </a:defRPr>
            </a:pPr>
            <a:r>
              <a:t>7. Node Loss Simulation: </a:t>
            </a:r>
          </a:p>
          <a:p>
            <a:pPr>
              <a:spcAft>
                <a:spcPts val="400"/>
              </a:spcAft>
              <a:defRPr sz="780">
                <a:solidFill>
                  <a:srgbClr val="CBD5E1"/>
                </a:solidFill>
              </a:defRPr>
            </a:pPr>
            <a:r>
              <a:t>Simulated destruction isolates severed edges.</a:t>
            </a:r>
          </a:p>
          <a:p>
            <a:pPr>
              <a:defRPr sz="850" b="1">
                <a:solidFill>
                  <a:srgbClr val="F8FAFC"/>
                </a:solidFill>
              </a:defRPr>
            </a:pPr>
            <a:r>
              <a:t>8. Self-Healing Mesh: </a:t>
            </a:r>
          </a:p>
          <a:p>
            <a:pPr>
              <a:spcAft>
                <a:spcPts val="400"/>
              </a:spcAft>
              <a:defRPr sz="780">
                <a:solidFill>
                  <a:srgbClr val="CBD5E1"/>
                </a:solidFill>
              </a:defRPr>
            </a:pPr>
            <a:r>
              <a:t>Manhattan reconnect (d ≤ 4) restores mesh in &lt;20ms.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FULL TECHNOLOGY STACK</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Technologies &amp; Tools Used: Architectural Stack &amp; Justifications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228600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0200"/>
            <a:ext cx="3063240" cy="2011680"/>
          </a:xfrm>
          <a:prstGeom prst="rect">
            <a:avLst/>
          </a:prstGeom>
          <a:noFill/>
        </p:spPr>
        <p:txBody>
          <a:bodyPr wrap="square">
            <a:spAutoFit/>
          </a:bodyPr>
          <a:lstStyle/>
          <a:p>
            <a:pPr>
              <a:spcAft>
                <a:spcPts val="400"/>
              </a:spcAft>
              <a:defRPr sz="1100" b="1">
                <a:solidFill>
                  <a:srgbClr val="00F5D4"/>
                </a:solidFill>
              </a:defRPr>
            </a:pPr>
            <a:r>
              <a:t>LANGUAGES</a:t>
            </a:r>
          </a:p>
          <a:p>
            <a:pPr>
              <a:spcAft>
                <a:spcPts val="600"/>
              </a:spcAft>
              <a:defRPr sz="950" b="1">
                <a:solidFill>
                  <a:srgbClr val="F8FAFC"/>
                </a:solidFill>
              </a:defRPr>
            </a:pPr>
            <a:r>
              <a:t>Python 3.11</a:t>
            </a:r>
            <a:br/>
            <a:r>
              <a:t>TypeScript 5.6</a:t>
            </a:r>
          </a:p>
          <a:p>
            <a:pPr>
              <a:defRPr sz="850">
                <a:solidFill>
                  <a:srgbClr val="CBD5E1"/>
                </a:solidFill>
              </a:defRPr>
            </a:pPr>
            <a:r>
              <a:t>Python for ML, scientific computing &amp; graph processing; TypeScript for strict type-safe UI architecture.</a:t>
            </a:r>
          </a:p>
        </p:txBody>
      </p:sp>
      <p:sp>
        <p:nvSpPr>
          <p:cNvPr id="9" name="Rounded Rectangle 8"/>
          <p:cNvSpPr/>
          <p:nvPr/>
        </p:nvSpPr>
        <p:spPr>
          <a:xfrm>
            <a:off x="4434840" y="1463040"/>
            <a:ext cx="3337560" cy="228600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00200"/>
            <a:ext cx="3063240" cy="2011680"/>
          </a:xfrm>
          <a:prstGeom prst="rect">
            <a:avLst/>
          </a:prstGeom>
          <a:noFill/>
        </p:spPr>
        <p:txBody>
          <a:bodyPr wrap="square">
            <a:spAutoFit/>
          </a:bodyPr>
          <a:lstStyle/>
          <a:p>
            <a:pPr>
              <a:spcAft>
                <a:spcPts val="400"/>
              </a:spcAft>
              <a:defRPr sz="1100" b="1">
                <a:solidFill>
                  <a:srgbClr val="38BDF8"/>
                </a:solidFill>
              </a:defRPr>
            </a:pPr>
            <a:r>
              <a:t>FRONTEND UI</a:t>
            </a:r>
          </a:p>
          <a:p>
            <a:pPr>
              <a:spcAft>
                <a:spcPts val="600"/>
              </a:spcAft>
              <a:defRPr sz="950" b="1">
                <a:solidFill>
                  <a:srgbClr val="F8FAFC"/>
                </a:solidFill>
              </a:defRPr>
            </a:pPr>
            <a:r>
              <a:t>Next.js 14 (App Router)</a:t>
            </a:r>
            <a:br/>
            <a:r>
              <a:t>React 18 • Tailwind CSS</a:t>
            </a:r>
            <a:br/>
            <a:r>
              <a:t>Leaflet GIS • Recharts</a:t>
            </a:r>
          </a:p>
          <a:p>
            <a:pPr>
              <a:defRPr sz="850">
                <a:solidFill>
                  <a:srgbClr val="CBD5E1"/>
                </a:solidFill>
              </a:defRPr>
            </a:pPr>
            <a:r>
              <a:t>Modern React server/client components, high-performance GIS geospatial maps, and responsive SVG telemetry charts.</a:t>
            </a:r>
          </a:p>
        </p:txBody>
      </p:sp>
      <p:sp>
        <p:nvSpPr>
          <p:cNvPr id="11" name="Rounded Rectangle 10"/>
          <p:cNvSpPr/>
          <p:nvPr/>
        </p:nvSpPr>
        <p:spPr>
          <a:xfrm>
            <a:off x="8138160" y="1463040"/>
            <a:ext cx="3337560" cy="228600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600200"/>
            <a:ext cx="3063240" cy="2011680"/>
          </a:xfrm>
          <a:prstGeom prst="rect">
            <a:avLst/>
          </a:prstGeom>
          <a:noFill/>
        </p:spPr>
        <p:txBody>
          <a:bodyPr wrap="square">
            <a:spAutoFit/>
          </a:bodyPr>
          <a:lstStyle/>
          <a:p>
            <a:pPr>
              <a:spcAft>
                <a:spcPts val="400"/>
              </a:spcAft>
              <a:defRPr sz="1100" b="1">
                <a:solidFill>
                  <a:srgbClr val="A855F7"/>
                </a:solidFill>
              </a:defRPr>
            </a:pPr>
            <a:r>
              <a:t>BACKEND SERVER</a:t>
            </a:r>
          </a:p>
          <a:p>
            <a:pPr>
              <a:spcAft>
                <a:spcPts val="600"/>
              </a:spcAft>
              <a:defRPr sz="950" b="1">
                <a:solidFill>
                  <a:srgbClr val="F8FAFC"/>
                </a:solidFill>
              </a:defRPr>
            </a:pPr>
            <a:r>
              <a:t>FastAPI 0.141</a:t>
            </a:r>
            <a:br/>
            <a:r>
              <a:t>Uvicorn ASGI Server</a:t>
            </a:r>
            <a:br/>
            <a:r>
              <a:t>WebSockets (RFC 6455)</a:t>
            </a:r>
          </a:p>
          <a:p>
            <a:pPr>
              <a:defRPr sz="850">
                <a:solidFill>
                  <a:srgbClr val="CBD5E1"/>
                </a:solidFill>
              </a:defRPr>
            </a:pPr>
            <a:r>
              <a:t>High-throughput asynchronous ASGI web server with automatic OpenAPI schemas and low-latency bidirectional socket push.</a:t>
            </a:r>
          </a:p>
        </p:txBody>
      </p:sp>
      <p:sp>
        <p:nvSpPr>
          <p:cNvPr id="13" name="Rounded Rectangle 12"/>
          <p:cNvSpPr/>
          <p:nvPr/>
        </p:nvSpPr>
        <p:spPr>
          <a:xfrm>
            <a:off x="731520" y="3931920"/>
            <a:ext cx="3337560" cy="228600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069080"/>
            <a:ext cx="3063240" cy="2011680"/>
          </a:xfrm>
          <a:prstGeom prst="rect">
            <a:avLst/>
          </a:prstGeom>
          <a:noFill/>
        </p:spPr>
        <p:txBody>
          <a:bodyPr wrap="square">
            <a:spAutoFit/>
          </a:bodyPr>
          <a:lstStyle/>
          <a:p>
            <a:pPr>
              <a:spcAft>
                <a:spcPts val="400"/>
              </a:spcAft>
              <a:defRPr sz="1100" b="1">
                <a:solidFill>
                  <a:srgbClr val="F43F5E"/>
                </a:solidFill>
              </a:defRPr>
            </a:pPr>
            <a:r>
              <a:t>AI / ML ENGINE</a:t>
            </a:r>
          </a:p>
          <a:p>
            <a:pPr>
              <a:spcAft>
                <a:spcPts val="600"/>
              </a:spcAft>
              <a:defRPr sz="950" b="1">
                <a:solidFill>
                  <a:srgbClr val="F8FAFC"/>
                </a:solidFill>
              </a:defRPr>
            </a:pPr>
            <a:r>
              <a:t>Scikit-Learn 1.9</a:t>
            </a:r>
            <a:br/>
            <a:r>
              <a:t>IsolationForest</a:t>
            </a:r>
            <a:br/>
            <a:r>
              <a:t>Pandas • Joblib</a:t>
            </a:r>
          </a:p>
          <a:p>
            <a:pPr>
              <a:defRPr sz="850">
                <a:solidFill>
                  <a:srgbClr val="CBD5E1"/>
                </a:solidFill>
              </a:defRPr>
            </a:pPr>
            <a:r>
              <a:t>Unsupervised anomaly detection in 6-dimensional feature space; serialized 2.2MB model loads instantly on edge hardware.</a:t>
            </a:r>
          </a:p>
        </p:txBody>
      </p:sp>
      <p:sp>
        <p:nvSpPr>
          <p:cNvPr id="15" name="Rounded Rectangle 14"/>
          <p:cNvSpPr/>
          <p:nvPr/>
        </p:nvSpPr>
        <p:spPr>
          <a:xfrm>
            <a:off x="4434840" y="3931920"/>
            <a:ext cx="3337560" cy="228600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069080"/>
            <a:ext cx="3063240" cy="2011680"/>
          </a:xfrm>
          <a:prstGeom prst="rect">
            <a:avLst/>
          </a:prstGeom>
          <a:noFill/>
        </p:spPr>
        <p:txBody>
          <a:bodyPr wrap="square">
            <a:spAutoFit/>
          </a:bodyPr>
          <a:lstStyle/>
          <a:p>
            <a:pPr>
              <a:spcAft>
                <a:spcPts val="400"/>
              </a:spcAft>
              <a:defRPr sz="1100" b="1">
                <a:solidFill>
                  <a:srgbClr val="F59E0B"/>
                </a:solidFill>
              </a:defRPr>
            </a:pPr>
            <a:r>
              <a:t>GRAPH &amp; MESH</a:t>
            </a:r>
          </a:p>
          <a:p>
            <a:pPr>
              <a:spcAft>
                <a:spcPts val="600"/>
              </a:spcAft>
              <a:defRPr sz="950" b="1">
                <a:solidFill>
                  <a:srgbClr val="F8FAFC"/>
                </a:solidFill>
              </a:defRPr>
            </a:pPr>
            <a:r>
              <a:t>NetworkX 3.6</a:t>
            </a:r>
            <a:br/>
            <a:r>
              <a:t>Manhattan Distance Metric</a:t>
            </a:r>
          </a:p>
          <a:p>
            <a:pPr>
              <a:defRPr sz="850">
                <a:solidFill>
                  <a:srgbClr val="CBD5E1"/>
                </a:solidFill>
              </a:defRPr>
            </a:pPr>
            <a:r>
              <a:t>Mathematical graph topology algorithms, node connectivity checks, and dynamic proximity-based edge reorganization.</a:t>
            </a:r>
          </a:p>
        </p:txBody>
      </p:sp>
      <p:sp>
        <p:nvSpPr>
          <p:cNvPr id="17" name="Rounded Rectangle 16"/>
          <p:cNvSpPr/>
          <p:nvPr/>
        </p:nvSpPr>
        <p:spPr>
          <a:xfrm>
            <a:off x="8138160" y="3931920"/>
            <a:ext cx="3337560" cy="228600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4069080"/>
            <a:ext cx="3063240" cy="2011680"/>
          </a:xfrm>
          <a:prstGeom prst="rect">
            <a:avLst/>
          </a:prstGeom>
          <a:noFill/>
        </p:spPr>
        <p:txBody>
          <a:bodyPr wrap="square">
            <a:spAutoFit/>
          </a:bodyPr>
          <a:lstStyle/>
          <a:p>
            <a:pPr>
              <a:spcAft>
                <a:spcPts val="400"/>
              </a:spcAft>
              <a:defRPr sz="1100" b="1">
                <a:solidFill>
                  <a:srgbClr val="10B981"/>
                </a:solidFill>
              </a:defRPr>
            </a:pPr>
            <a:r>
              <a:t>DATABASE &amp; ORM</a:t>
            </a:r>
          </a:p>
          <a:p>
            <a:pPr>
              <a:spcAft>
                <a:spcPts val="600"/>
              </a:spcAft>
              <a:defRPr sz="950" b="1">
                <a:solidFill>
                  <a:srgbClr val="F8FAFC"/>
                </a:solidFill>
              </a:defRPr>
            </a:pPr>
            <a:r>
              <a:t>SQLAlchemy 2.0 ORM</a:t>
            </a:r>
            <a:br/>
            <a:r>
              <a:t>SQLite 3 • PostgreSQL</a:t>
            </a:r>
          </a:p>
          <a:p>
            <a:pPr>
              <a:defRPr sz="850">
                <a:solidFill>
                  <a:srgbClr val="CBD5E1"/>
                </a:solidFill>
              </a:defRPr>
            </a:pPr>
            <a:r>
              <a:t>ACID-compliant relational persistence with 7 tables; portable embedded SQLite for development and PostgreSQL for production.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ALGORITHMIC FORMULATIONS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Core Algorithms: Isolation Forest, Rule Classifier &amp; Network Recovery</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4389120"/>
          </a:xfrm>
          <a:prstGeom prst="rect">
            <a:avLst/>
          </a:prstGeom>
          <a:noFill/>
        </p:spPr>
        <p:txBody>
          <a:bodyPr wrap="square">
            <a:spAutoFit/>
          </a:bodyPr>
          <a:lstStyle/>
          <a:p>
            <a:pPr>
              <a:spcAft>
                <a:spcPts val="800"/>
              </a:spcAft>
              <a:defRPr sz="1200" b="1">
                <a:solidFill>
                  <a:srgbClr val="00F5D4"/>
                </a:solidFill>
              </a:defRPr>
            </a:pPr>
            <a:r>
              <a:t>1. ISOLATION FOREST ML</a:t>
            </a:r>
          </a:p>
          <a:p>
            <a:pPr>
              <a:defRPr sz="900" b="1">
                <a:solidFill>
                  <a:srgbClr val="F8FAFC"/>
                </a:solidFill>
              </a:defRPr>
            </a:pPr>
            <a:r>
              <a:t>Mathematical Basis: </a:t>
            </a:r>
          </a:p>
          <a:p>
            <a:pPr>
              <a:spcAft>
                <a:spcPts val="600"/>
              </a:spcAft>
              <a:defRPr sz="819">
                <a:solidFill>
                  <a:srgbClr val="CBD5E1"/>
                </a:solidFill>
              </a:defRPr>
            </a:pPr>
            <a:r>
              <a:t>Isolates observations by randomly selecting a feature and a split value between min and max.</a:t>
            </a:r>
          </a:p>
          <a:p>
            <a:pPr>
              <a:defRPr sz="900" b="1">
                <a:solidFill>
                  <a:srgbClr val="F8FAFC"/>
                </a:solidFill>
              </a:defRPr>
            </a:pPr>
            <a:r>
              <a:t>Path Length Anomaly: </a:t>
            </a:r>
          </a:p>
          <a:p>
            <a:pPr>
              <a:spcAft>
                <a:spcPts val="600"/>
              </a:spcAft>
              <a:defRPr sz="819">
                <a:solidFill>
                  <a:srgbClr val="CBD5E1"/>
                </a:solidFill>
              </a:defRPr>
            </a:pPr>
            <a:r>
              <a:t>Outliers require fewer splits to isolate (shallow tree depth) compared to clustered normal points.</a:t>
            </a:r>
          </a:p>
          <a:p>
            <a:pPr>
              <a:defRPr sz="900" b="1">
                <a:solidFill>
                  <a:srgbClr val="F8FAFC"/>
                </a:solidFill>
              </a:defRPr>
            </a:pPr>
            <a:r>
              <a:t>Hyperparameters: </a:t>
            </a:r>
          </a:p>
          <a:p>
            <a:pPr>
              <a:spcAft>
                <a:spcPts val="600"/>
              </a:spcAft>
              <a:defRPr sz="819">
                <a:solidFill>
                  <a:srgbClr val="CBD5E1"/>
                </a:solidFill>
              </a:defRPr>
            </a:pPr>
            <a:r>
              <a:t>• n_estimators = 200</a:t>
            </a:r>
            <a:br/>
            <a:r>
              <a:t>• contamination = 0.05</a:t>
            </a:r>
            <a:br/>
            <a:r>
              <a:t>• random_state = 42</a:t>
            </a:r>
          </a:p>
          <a:p>
            <a:pPr>
              <a:defRPr sz="900" b="1">
                <a:solidFill>
                  <a:srgbClr val="F8FAFC"/>
                </a:solidFill>
              </a:defRPr>
            </a:pPr>
            <a:r>
              <a:t>Execution: </a:t>
            </a:r>
          </a:p>
          <a:p>
            <a:pPr>
              <a:spcAft>
                <a:spcPts val="600"/>
              </a:spcAft>
              <a:defRPr sz="819">
                <a:solidFill>
                  <a:srgbClr val="CBD5E1"/>
                </a:solidFill>
              </a:defRPr>
            </a:pPr>
            <a:r>
              <a:t>data[FEATURES] -&gt; model.predict() (+1: Normal, -1: Anomaly) &amp; decision_function() score.</a:t>
            </a:r>
          </a:p>
        </p:txBody>
      </p:sp>
      <p:sp>
        <p:nvSpPr>
          <p:cNvPr id="9" name="Rounded Rectangle 8"/>
          <p:cNvSpPr/>
          <p:nvPr/>
        </p:nvSpPr>
        <p:spPr>
          <a:xfrm>
            <a:off x="4434840" y="1463040"/>
            <a:ext cx="3337560" cy="475488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45920"/>
            <a:ext cx="2971800" cy="4389120"/>
          </a:xfrm>
          <a:prstGeom prst="rect">
            <a:avLst/>
          </a:prstGeom>
          <a:noFill/>
        </p:spPr>
        <p:txBody>
          <a:bodyPr wrap="square">
            <a:spAutoFit/>
          </a:bodyPr>
          <a:lstStyle/>
          <a:p>
            <a:pPr>
              <a:spcAft>
                <a:spcPts val="800"/>
              </a:spcAft>
              <a:defRPr sz="1200" b="1">
                <a:solidFill>
                  <a:srgbClr val="F43F5E"/>
                </a:solidFill>
              </a:defRPr>
            </a:pPr>
            <a:r>
              <a:t>2. CONTEXTUAL CLASSIFIER</a:t>
            </a:r>
          </a:p>
          <a:p>
            <a:pPr>
              <a:defRPr sz="900" b="1">
                <a:solidFill>
                  <a:srgbClr val="F8FAFC"/>
                </a:solidFill>
              </a:defRPr>
            </a:pPr>
            <a:r>
              <a:t>Multi-Hazard Rules: </a:t>
            </a:r>
          </a:p>
          <a:p>
            <a:pPr>
              <a:spcAft>
                <a:spcPts val="600"/>
              </a:spcAft>
              <a:defRPr sz="819">
                <a:solidFill>
                  <a:srgbClr val="CBD5E1"/>
                </a:solidFill>
              </a:defRPr>
            </a:pPr>
            <a:r>
              <a:t>Executes when Isolation Forest flags condition as ANOMALY.</a:t>
            </a:r>
          </a:p>
          <a:p>
            <a:pPr>
              <a:defRPr sz="900" b="1">
                <a:solidFill>
                  <a:srgbClr val="F8FAFC"/>
                </a:solidFill>
              </a:defRPr>
            </a:pPr>
            <a:r>
              <a:t>FIRE Class: </a:t>
            </a:r>
          </a:p>
          <a:p>
            <a:pPr>
              <a:spcAft>
                <a:spcPts val="600"/>
              </a:spcAft>
              <a:defRPr sz="819">
                <a:solidFill>
                  <a:srgbClr val="CBD5E1"/>
                </a:solidFill>
              </a:defRPr>
            </a:pPr>
            <a:r>
              <a:t>Temp ≥ 40°C  AND</a:t>
            </a:r>
            <a:br/>
            <a:r>
              <a:t>Humidity ≤ 30%  AND</a:t>
            </a:r>
            <a:br/>
            <a:r>
              <a:t>Smoke Density ≥ 0.50</a:t>
            </a:r>
          </a:p>
          <a:p>
            <a:pPr>
              <a:defRPr sz="900" b="1">
                <a:solidFill>
                  <a:srgbClr val="F8FAFC"/>
                </a:solidFill>
              </a:defRPr>
            </a:pPr>
            <a:r>
              <a:t>POLLUTION Class: </a:t>
            </a:r>
          </a:p>
          <a:p>
            <a:pPr>
              <a:spcAft>
                <a:spcPts val="600"/>
              </a:spcAft>
              <a:defRPr sz="819">
                <a:solidFill>
                  <a:srgbClr val="CBD5E1"/>
                </a:solidFill>
              </a:defRPr>
            </a:pPr>
            <a:r>
              <a:t>CO2 ≥ 800 ppm  AND</a:t>
            </a:r>
            <a:br/>
            <a:r>
              <a:t>Air Quality (AQI) ≥ 120  AND</a:t>
            </a:r>
            <a:br/>
            <a:r>
              <a:t>Smoke Density ≥ 0.30</a:t>
            </a:r>
          </a:p>
          <a:p>
            <a:pPr>
              <a:defRPr sz="900" b="1">
                <a:solidFill>
                  <a:srgbClr val="F8FAFC"/>
                </a:solidFill>
              </a:defRPr>
            </a:pPr>
            <a:r>
              <a:t>EXTREME HEAT Class: </a:t>
            </a:r>
          </a:p>
          <a:p>
            <a:pPr>
              <a:spcAft>
                <a:spcPts val="600"/>
              </a:spcAft>
              <a:defRPr sz="819">
                <a:solidFill>
                  <a:srgbClr val="CBD5E1"/>
                </a:solidFill>
              </a:defRPr>
            </a:pPr>
            <a:r>
              <a:t>Ambient Temp ≥ 40°C with non-combustion particulates.</a:t>
            </a:r>
          </a:p>
          <a:p>
            <a:pPr>
              <a:defRPr sz="900" b="1">
                <a:solidFill>
                  <a:srgbClr val="F8FAFC"/>
                </a:solidFill>
              </a:defRPr>
            </a:pPr>
            <a:r>
              <a:t>OTHER ANOMALY: </a:t>
            </a:r>
          </a:p>
          <a:p>
            <a:pPr>
              <a:spcAft>
                <a:spcPts val="600"/>
              </a:spcAft>
              <a:defRPr sz="819">
                <a:solidFill>
                  <a:srgbClr val="CBD5E1"/>
                </a:solidFill>
              </a:defRPr>
            </a:pPr>
            <a:r>
              <a:t>Multi-sensor statistical deviation outside baseline distribution.</a:t>
            </a:r>
          </a:p>
        </p:txBody>
      </p:sp>
      <p:sp>
        <p:nvSpPr>
          <p:cNvPr id="11" name="Rounded Rectangle 10"/>
          <p:cNvSpPr/>
          <p:nvPr/>
        </p:nvSpPr>
        <p:spPr>
          <a:xfrm>
            <a:off x="8138160" y="1463040"/>
            <a:ext cx="3337560" cy="47548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45920"/>
            <a:ext cx="2971800" cy="4389120"/>
          </a:xfrm>
          <a:prstGeom prst="rect">
            <a:avLst/>
          </a:prstGeom>
          <a:noFill/>
        </p:spPr>
        <p:txBody>
          <a:bodyPr wrap="square">
            <a:spAutoFit/>
          </a:bodyPr>
          <a:lstStyle/>
          <a:p>
            <a:pPr>
              <a:spcAft>
                <a:spcPts val="800"/>
              </a:spcAft>
              <a:defRPr sz="1200" b="1">
                <a:solidFill>
                  <a:srgbClr val="A855F7"/>
                </a:solidFill>
              </a:defRPr>
            </a:pPr>
            <a:r>
              <a:t>3. GRAPH SELF-HEALING</a:t>
            </a:r>
          </a:p>
          <a:p>
            <a:pPr>
              <a:defRPr sz="900" b="1">
                <a:solidFill>
                  <a:srgbClr val="F8FAFC"/>
                </a:solidFill>
              </a:defRPr>
            </a:pPr>
            <a:r>
              <a:t>Dead Link Pruning: </a:t>
            </a:r>
          </a:p>
          <a:p>
            <a:pPr>
              <a:spcAft>
                <a:spcPts val="600"/>
              </a:spcAft>
              <a:defRPr sz="819">
                <a:solidFill>
                  <a:srgbClr val="CBD5E1"/>
                </a:solidFill>
              </a:defRPr>
            </a:pPr>
            <a:r>
              <a:t>Upon node failure detection, all incident edges E(failed) are removed from NetworkX graph.</a:t>
            </a:r>
          </a:p>
          <a:p>
            <a:pPr>
              <a:defRPr sz="900" b="1">
                <a:solidFill>
                  <a:srgbClr val="F8FAFC"/>
                </a:solidFill>
              </a:defRPr>
            </a:pPr>
            <a:r>
              <a:t>Manhattan Metric: </a:t>
            </a:r>
          </a:p>
          <a:p>
            <a:pPr>
              <a:spcAft>
                <a:spcPts val="600"/>
              </a:spcAft>
              <a:defRPr sz="819">
                <a:solidFill>
                  <a:srgbClr val="CBD5E1"/>
                </a:solidFill>
              </a:defRPr>
            </a:pPr>
            <a:r>
              <a:t>Calculates proximity between active orphans:</a:t>
            </a:r>
            <a:br/>
            <a:r>
              <a:t>D(A,B) = |xA - xB| + |yA - yB|</a:t>
            </a:r>
          </a:p>
          <a:p>
            <a:pPr>
              <a:defRPr sz="900" b="1">
                <a:solidFill>
                  <a:srgbClr val="F8FAFC"/>
                </a:solidFill>
              </a:defRPr>
            </a:pPr>
            <a:r>
              <a:t>Proximity Link Insertion: </a:t>
            </a:r>
          </a:p>
          <a:p>
            <a:pPr>
              <a:spcAft>
                <a:spcPts val="600"/>
              </a:spcAft>
              <a:defRPr sz="819">
                <a:solidFill>
                  <a:srgbClr val="CBD5E1"/>
                </a:solidFill>
              </a:defRPr>
            </a:pPr>
            <a:r>
              <a:t>Connects active agents satisfying D(A,B) ≤ 4 if no active edge exists.</a:t>
            </a:r>
          </a:p>
          <a:p>
            <a:pPr>
              <a:defRPr sz="900" b="1">
                <a:solidFill>
                  <a:srgbClr val="F8FAFC"/>
                </a:solidFill>
              </a:defRPr>
            </a:pPr>
            <a:r>
              <a:t>Biconnectivity Check: </a:t>
            </a:r>
          </a:p>
          <a:p>
            <a:pPr>
              <a:spcAft>
                <a:spcPts val="600"/>
              </a:spcAft>
              <a:defRPr sz="819">
                <a:solidFill>
                  <a:srgbClr val="CBD5E1"/>
                </a:solidFill>
              </a:defRPr>
            </a:pPr>
            <a:r>
              <a:t>nx.is_connected(subgraph) validates full operational restoration in &lt;20ms.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RELATIONAL PERSISTENCE &amp; SCHEMAS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Database Architecture: SQLAlchemy Relational Schema &amp; Telemetry Flow</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51663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389120"/>
          </a:xfrm>
          <a:prstGeom prst="rect">
            <a:avLst/>
          </a:prstGeom>
          <a:noFill/>
        </p:spPr>
        <p:txBody>
          <a:bodyPr wrap="square">
            <a:spAutoFit/>
          </a:bodyPr>
          <a:lstStyle/>
          <a:p>
            <a:pPr>
              <a:spcAft>
                <a:spcPts val="800"/>
              </a:spcAft>
              <a:defRPr sz="1200" b="1">
                <a:solidFill>
                  <a:srgbClr val="38BDF8"/>
                </a:solidFill>
              </a:defRPr>
            </a:pPr>
            <a:r>
              <a:t>7 PERSISTENT RELATIONAL TABLES</a:t>
            </a:r>
          </a:p>
          <a:p>
            <a:pPr>
              <a:defRPr sz="900" b="1">
                <a:solidFill>
                  <a:srgbClr val="F8FAFC"/>
                </a:solidFill>
              </a:defRPr>
            </a:pPr>
            <a:r>
              <a:t>agents: </a:t>
            </a:r>
          </a:p>
          <a:p>
            <a:pPr>
              <a:spcAft>
                <a:spcPts val="400"/>
              </a:spcAft>
              <a:defRPr sz="819">
                <a:solidFill>
                  <a:srgbClr val="CBD5E1"/>
                </a:solidFill>
              </a:defRPr>
            </a:pPr>
            <a:r>
              <a:t>Agent registry, grid coordinates (x,y), status (ACTIVE/FAILED), battery, health, connectivity.</a:t>
            </a:r>
          </a:p>
          <a:p>
            <a:pPr>
              <a:defRPr sz="900" b="1">
                <a:solidFill>
                  <a:srgbClr val="F8FAFC"/>
                </a:solidFill>
              </a:defRPr>
            </a:pPr>
            <a:r>
              <a:t>agent_deployments &amp; site: </a:t>
            </a:r>
          </a:p>
          <a:p>
            <a:pPr>
              <a:spcAft>
                <a:spcPts val="400"/>
              </a:spcAft>
              <a:defRPr sz="819">
                <a:solidFill>
                  <a:srgbClr val="CBD5E1"/>
                </a:solidFill>
              </a:defRPr>
            </a:pPr>
            <a:r>
              <a:t>Persisted real-world GPS coordinates (latitude, longitude) and deployment radius (0.5–10km).</a:t>
            </a:r>
          </a:p>
          <a:p>
            <a:pPr>
              <a:defRPr sz="900" b="1">
                <a:solidFill>
                  <a:srgbClr val="F8FAFC"/>
                </a:solidFill>
              </a:defRPr>
            </a:pPr>
            <a:r>
              <a:t>environmental_readings: </a:t>
            </a:r>
          </a:p>
          <a:p>
            <a:pPr>
              <a:spcAft>
                <a:spcPts val="400"/>
              </a:spcAft>
              <a:defRPr sz="819">
                <a:solidFill>
                  <a:srgbClr val="CBD5E1"/>
                </a:solidFill>
              </a:defRPr>
            </a:pPr>
            <a:r>
              <a:t>Time-series logging 6 sensor features, AI anomaly score, and classified event.</a:t>
            </a:r>
          </a:p>
          <a:p>
            <a:pPr>
              <a:defRPr sz="900" b="1">
                <a:solidFill>
                  <a:srgbClr val="F8FAFC"/>
                </a:solidFill>
              </a:defRPr>
            </a:pPr>
            <a:r>
              <a:t>environmental_events: </a:t>
            </a:r>
          </a:p>
          <a:p>
            <a:pPr>
              <a:spcAft>
                <a:spcPts val="400"/>
              </a:spcAft>
              <a:defRPr sz="819">
                <a:solidFill>
                  <a:srgbClr val="CBD5E1"/>
                </a:solidFill>
              </a:defRPr>
            </a:pPr>
            <a:r>
              <a:t>Active &amp; resolved hazard events, epicenters, severity, consensus state, affected agent IDs.</a:t>
            </a:r>
          </a:p>
          <a:p>
            <a:pPr>
              <a:defRPr sz="900" b="1">
                <a:solidFill>
                  <a:srgbClr val="F8FAFC"/>
                </a:solidFill>
              </a:defRPr>
            </a:pPr>
            <a:r>
              <a:t>consensus_records: </a:t>
            </a:r>
          </a:p>
          <a:p>
            <a:pPr>
              <a:spcAft>
                <a:spcPts val="400"/>
              </a:spcAft>
              <a:defRPr sz="819">
                <a:solidFill>
                  <a:srgbClr val="CBD5E1"/>
                </a:solidFill>
              </a:defRPr>
            </a:pPr>
            <a:r>
              <a:t>Evidence audit trail, total voters, agreeing voters, confidence score.</a:t>
            </a:r>
          </a:p>
          <a:p>
            <a:pPr>
              <a:defRPr sz="900" b="1">
                <a:solidFill>
                  <a:srgbClr val="F8FAFC"/>
                </a:solidFill>
              </a:defRPr>
            </a:pPr>
            <a:r>
              <a:t>network_reorganizations: </a:t>
            </a:r>
          </a:p>
          <a:p>
            <a:pPr>
              <a:spcAft>
                <a:spcPts val="400"/>
              </a:spcAft>
              <a:defRPr sz="819">
                <a:solidFill>
                  <a:srgbClr val="CBD5E1"/>
                </a:solidFill>
              </a:defRPr>
            </a:pPr>
            <a:r>
              <a:t>Triggered failures, severed connections, created links, recovery duration (ms).</a:t>
            </a:r>
          </a:p>
          <a:p>
            <a:pPr>
              <a:defRPr sz="900" b="1">
                <a:solidFill>
                  <a:srgbClr val="F8FAFC"/>
                </a:solidFill>
              </a:defRPr>
            </a:pPr>
            <a:r>
              <a:t>system_audit_logs: </a:t>
            </a:r>
          </a:p>
          <a:p>
            <a:pPr>
              <a:spcAft>
                <a:spcPts val="400"/>
              </a:spcAft>
              <a:defRPr sz="819">
                <a:solidFill>
                  <a:srgbClr val="CBD5E1"/>
                </a:solidFill>
              </a:defRPr>
            </a:pPr>
            <a:r>
              <a:t>Chronological audit timeline categorized by EVENT, FAILURES, CONSENSUS, RECOVERY, etc.</a:t>
            </a:r>
          </a:p>
        </p:txBody>
      </p:sp>
      <p:sp>
        <p:nvSpPr>
          <p:cNvPr id="9" name="Rounded Rectangle 8"/>
          <p:cNvSpPr/>
          <p:nvPr/>
        </p:nvSpPr>
        <p:spPr>
          <a:xfrm>
            <a:off x="6309360" y="1463040"/>
            <a:ext cx="51663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709160" cy="4389120"/>
          </a:xfrm>
          <a:prstGeom prst="rect">
            <a:avLst/>
          </a:prstGeom>
          <a:noFill/>
        </p:spPr>
        <p:txBody>
          <a:bodyPr wrap="square">
            <a:spAutoFit/>
          </a:bodyPr>
          <a:lstStyle/>
          <a:p>
            <a:pPr>
              <a:spcAft>
                <a:spcPts val="800"/>
              </a:spcAft>
              <a:defRPr sz="1200" b="1">
                <a:solidFill>
                  <a:srgbClr val="00F5D4"/>
                </a:solidFill>
              </a:defRPr>
            </a:pPr>
            <a:r>
              <a:t>TELEMETRY &amp; STATE DATA FLOW PIPELINE</a:t>
            </a:r>
          </a:p>
          <a:p>
            <a:pPr>
              <a:defRPr sz="900" b="1">
                <a:solidFill>
                  <a:srgbClr val="F8FAFC"/>
                </a:solidFill>
              </a:defRPr>
            </a:pPr>
            <a:r>
              <a:t>Stage 1 — In-Memory Edge State: </a:t>
            </a:r>
          </a:p>
          <a:p>
            <a:pPr>
              <a:spcAft>
                <a:spcPts val="600"/>
              </a:spcAft>
              <a:defRPr sz="819">
                <a:solidFill>
                  <a:srgbClr val="CBD5E1"/>
                </a:solidFill>
              </a:defRPr>
            </a:pPr>
            <a:r>
              <a:t>Agents maintain live telemetry, neighbor references, and battery metrics in memory for sub-millisecond local P2P access.</a:t>
            </a:r>
          </a:p>
          <a:p>
            <a:pPr>
              <a:defRPr sz="900" b="1">
                <a:solidFill>
                  <a:srgbClr val="F8FAFC"/>
                </a:solidFill>
              </a:defRPr>
            </a:pPr>
            <a:r>
              <a:t>Stage 2 — Atomic Relational Sync: </a:t>
            </a:r>
          </a:p>
          <a:p>
            <a:pPr>
              <a:spcAft>
                <a:spcPts val="600"/>
              </a:spcAft>
              <a:defRPr sz="819">
                <a:solidFill>
                  <a:srgbClr val="CBD5E1"/>
                </a:solidFill>
              </a:defRPr>
            </a:pPr>
            <a:r>
              <a:t>SimulationService executes periodic and event-triggered commits syncing active agent states, readings, and events via SQLAlchemy ORM.</a:t>
            </a:r>
          </a:p>
          <a:p>
            <a:pPr>
              <a:defRPr sz="900" b="1">
                <a:solidFill>
                  <a:srgbClr val="F8FAFC"/>
                </a:solidFill>
              </a:defRPr>
            </a:pPr>
            <a:r>
              <a:t>Stage 3 — WebSocket Broadcast (/ws): </a:t>
            </a:r>
          </a:p>
          <a:p>
            <a:pPr>
              <a:spcAft>
                <a:spcPts val="600"/>
              </a:spcAft>
              <a:defRPr sz="819">
                <a:solidFill>
                  <a:srgbClr val="CBD5E1"/>
                </a:solidFill>
              </a:defRPr>
            </a:pPr>
            <a:r>
              <a:t>FastAPI WebSocketManager pushes live JSON state deltas to connected Next.js browser clients instantly.</a:t>
            </a:r>
          </a:p>
          <a:p>
            <a:pPr>
              <a:defRPr sz="900" b="1">
                <a:solidFill>
                  <a:srgbClr val="F8FAFC"/>
                </a:solidFill>
              </a:defRPr>
            </a:pPr>
            <a:r>
              <a:t>Stage 4 — Historical Query Optimization: </a:t>
            </a:r>
          </a:p>
          <a:p>
            <a:pPr>
              <a:spcAft>
                <a:spcPts val="600"/>
              </a:spcAft>
              <a:defRPr sz="819">
                <a:solidFill>
                  <a:srgbClr val="CBD5E1"/>
                </a:solidFill>
              </a:defRPr>
            </a:pPr>
            <a:r>
              <a:t>Indexed timestamps on telemetry and audit log tables enable sub-10ms REST responses for Next.js historical analytics.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INDUSTRY IMPACT &amp; PRACTICAL APPLICATIONS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Real-World Use Cases: 5 Practical Disaster &amp; Ecological Scenarios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10744200" cy="86868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10378440" cy="731520"/>
          </a:xfrm>
          <a:prstGeom prst="rect">
            <a:avLst/>
          </a:prstGeom>
          <a:noFill/>
        </p:spPr>
        <p:txBody>
          <a:bodyPr wrap="square">
            <a:spAutoFit/>
          </a:bodyPr>
          <a:lstStyle/>
          <a:p>
            <a:pPr>
              <a:spcAft>
                <a:spcPts val="200"/>
              </a:spcAft>
              <a:defRPr sz="1100" b="1">
                <a:solidFill>
                  <a:srgbClr val="F43F5E"/>
                </a:solidFill>
              </a:defRPr>
            </a:pPr>
            <a:r>
              <a:t>1. Wildfire Detection in Dense National Forests</a:t>
            </a:r>
          </a:p>
          <a:p>
            <a:pPr>
              <a:defRPr sz="850">
                <a:solidFill>
                  <a:srgbClr val="CBD5E1"/>
                </a:solidFill>
              </a:defRPr>
            </a:pPr>
            <a:r>
              <a:t>Thermal drones and canopy sentries detect early smoldering combustion beneath tree canopies hours before satellite or smoke detection towers spot plumes. Autonomous consensus eliminates false alarms from campfire smoke.</a:t>
            </a:r>
          </a:p>
        </p:txBody>
      </p:sp>
      <p:sp>
        <p:nvSpPr>
          <p:cNvPr id="9" name="Rounded Rectangle 8"/>
          <p:cNvSpPr/>
          <p:nvPr/>
        </p:nvSpPr>
        <p:spPr>
          <a:xfrm>
            <a:off x="731520" y="2423160"/>
            <a:ext cx="10744200" cy="8686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96312"/>
            <a:ext cx="10378440" cy="731520"/>
          </a:xfrm>
          <a:prstGeom prst="rect">
            <a:avLst/>
          </a:prstGeom>
          <a:noFill/>
        </p:spPr>
        <p:txBody>
          <a:bodyPr wrap="square">
            <a:spAutoFit/>
          </a:bodyPr>
          <a:lstStyle/>
          <a:p>
            <a:pPr>
              <a:spcAft>
                <a:spcPts val="200"/>
              </a:spcAft>
              <a:defRPr sz="1100" b="1">
                <a:solidFill>
                  <a:srgbClr val="F59E0B"/>
                </a:solidFill>
              </a:defRPr>
            </a:pPr>
            <a:r>
              <a:t>2. Petrochemical Industrial Refinery Compliance</a:t>
            </a:r>
          </a:p>
          <a:p>
            <a:pPr>
              <a:defRPr sz="850">
                <a:solidFill>
                  <a:srgbClr val="CBD5E1"/>
                </a:solidFill>
              </a:defRPr>
            </a:pPr>
            <a:r>
              <a:t>Grid of autonomous atmospheric sensors surrounding chemical plants continuously profiles volatile organic compounds, fugitive CO2, and smoke emissions. Operates without expensive fixed cable infrastructure.</a:t>
            </a:r>
          </a:p>
        </p:txBody>
      </p:sp>
      <p:sp>
        <p:nvSpPr>
          <p:cNvPr id="11" name="Rounded Rectangle 10"/>
          <p:cNvSpPr/>
          <p:nvPr/>
        </p:nvSpPr>
        <p:spPr>
          <a:xfrm>
            <a:off x="731520" y="3383280"/>
            <a:ext cx="10744200" cy="8686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56432"/>
            <a:ext cx="10378440" cy="731520"/>
          </a:xfrm>
          <a:prstGeom prst="rect">
            <a:avLst/>
          </a:prstGeom>
          <a:noFill/>
        </p:spPr>
        <p:txBody>
          <a:bodyPr wrap="square">
            <a:spAutoFit/>
          </a:bodyPr>
          <a:lstStyle/>
          <a:p>
            <a:pPr>
              <a:spcAft>
                <a:spcPts val="200"/>
              </a:spcAft>
              <a:defRPr sz="1100" b="1">
                <a:solidFill>
                  <a:srgbClr val="38BDF8"/>
                </a:solidFill>
              </a:defRPr>
            </a:pPr>
            <a:r>
              <a:t>3. Urban Heat Island &amp; Public Health Mitigation</a:t>
            </a:r>
          </a:p>
          <a:p>
            <a:pPr>
              <a:defRPr sz="850">
                <a:solidFill>
                  <a:srgbClr val="CBD5E1"/>
                </a:solidFill>
              </a:defRPr>
            </a:pPr>
            <a:r>
              <a:t>Micro-climate thermal sentries deployed across urban street canyons identify hyper-local thermal stress zones (≥42°C), automatically signaling municipal teams to trigger targeted cooling centers.</a:t>
            </a:r>
          </a:p>
        </p:txBody>
      </p:sp>
      <p:sp>
        <p:nvSpPr>
          <p:cNvPr id="13" name="Rounded Rectangle 12"/>
          <p:cNvSpPr/>
          <p:nvPr/>
        </p:nvSpPr>
        <p:spPr>
          <a:xfrm>
            <a:off x="731520" y="4343400"/>
            <a:ext cx="10744200" cy="8686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16552"/>
            <a:ext cx="10378440" cy="731520"/>
          </a:xfrm>
          <a:prstGeom prst="rect">
            <a:avLst/>
          </a:prstGeom>
          <a:noFill/>
        </p:spPr>
        <p:txBody>
          <a:bodyPr wrap="square">
            <a:spAutoFit/>
          </a:bodyPr>
          <a:lstStyle/>
          <a:p>
            <a:pPr>
              <a:spcAft>
                <a:spcPts val="200"/>
              </a:spcAft>
              <a:defRPr sz="1100" b="1">
                <a:solidFill>
                  <a:srgbClr val="00F5D4"/>
                </a:solidFill>
              </a:defRPr>
            </a:pPr>
            <a:r>
              <a:t>4. Watershed &amp; Riparian Habitat Conservation</a:t>
            </a:r>
          </a:p>
          <a:p>
            <a:pPr>
              <a:defRPr sz="850">
                <a:solidFill>
                  <a:srgbClr val="CBD5E1"/>
                </a:solidFill>
              </a:defRPr>
            </a:pPr>
            <a:r>
              <a:t>Hydrology and soil probes track river basin agricultural runoff, extreme moisture depletion, and soil acidification, providing early warnings for flash droughts and aquatic ecosystem collapse.</a:t>
            </a:r>
          </a:p>
        </p:txBody>
      </p:sp>
      <p:sp>
        <p:nvSpPr>
          <p:cNvPr id="15" name="Rounded Rectangle 14"/>
          <p:cNvSpPr/>
          <p:nvPr/>
        </p:nvSpPr>
        <p:spPr>
          <a:xfrm>
            <a:off x="731520" y="5303520"/>
            <a:ext cx="10744200" cy="8686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76672"/>
            <a:ext cx="10378440" cy="731520"/>
          </a:xfrm>
          <a:prstGeom prst="rect">
            <a:avLst/>
          </a:prstGeom>
          <a:noFill/>
        </p:spPr>
        <p:txBody>
          <a:bodyPr wrap="square">
            <a:spAutoFit/>
          </a:bodyPr>
          <a:lstStyle/>
          <a:p>
            <a:pPr>
              <a:spcAft>
                <a:spcPts val="200"/>
              </a:spcAft>
              <a:defRPr sz="1100" b="1">
                <a:solidFill>
                  <a:srgbClr val="A855F7"/>
                </a:solidFill>
              </a:defRPr>
            </a:pPr>
            <a:r>
              <a:t>5. Post-Disaster Emergency Network Restoration</a:t>
            </a:r>
          </a:p>
          <a:p>
            <a:pPr>
              <a:defRPr sz="850">
                <a:solidFill>
                  <a:srgbClr val="CBD5E1"/>
                </a:solidFill>
              </a:defRPr>
            </a:pPr>
            <a:r>
              <a:t>Following earthquakes or hurricanes when cellular towers are flattened, autonomous mesh nodes self-organize replacement communication links, establishing resilient emergency hazard telemetry for first responders.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TECHNICAL VIVA DEMONSTRATION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Demonstration Scenario: Step-by-Step Viva Execution Guide</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10744200" cy="73152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08760"/>
            <a:ext cx="10378440" cy="640080"/>
          </a:xfrm>
          <a:prstGeom prst="rect">
            <a:avLst/>
          </a:prstGeom>
          <a:noFill/>
        </p:spPr>
        <p:txBody>
          <a:bodyPr wrap="square">
            <a:spAutoFit/>
          </a:bodyPr>
          <a:lstStyle/>
          <a:p>
            <a:pPr>
              <a:spcAft>
                <a:spcPts val="200"/>
              </a:spcAft>
              <a:defRPr sz="1050" b="1">
                <a:solidFill>
                  <a:srgbClr val="00F5D4"/>
                </a:solidFill>
              </a:defRPr>
            </a:pPr>
            <a:r>
              <a:t>Step 1: Baseline Fleet Normalcy</a:t>
            </a:r>
          </a:p>
          <a:p>
            <a:pPr>
              <a:defRPr sz="819">
                <a:solidFill>
                  <a:srgbClr val="CBD5E1"/>
                </a:solidFill>
              </a:defRPr>
            </a:pPr>
            <a:r>
              <a:t>Inspect /command-center. 20 active agents report normal baseline telemetry (28°C, 60% humidity, 0.10 smoke). NetworkX confirms a fully connected P2P mesh topology.</a:t>
            </a:r>
          </a:p>
        </p:txBody>
      </p:sp>
      <p:sp>
        <p:nvSpPr>
          <p:cNvPr id="9" name="Rounded Rectangle 8"/>
          <p:cNvSpPr/>
          <p:nvPr/>
        </p:nvSpPr>
        <p:spPr>
          <a:xfrm>
            <a:off x="731520" y="2267712"/>
            <a:ext cx="10744200" cy="73152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13432"/>
            <a:ext cx="10378440" cy="640080"/>
          </a:xfrm>
          <a:prstGeom prst="rect">
            <a:avLst/>
          </a:prstGeom>
          <a:noFill/>
        </p:spPr>
        <p:txBody>
          <a:bodyPr wrap="square">
            <a:spAutoFit/>
          </a:bodyPr>
          <a:lstStyle/>
          <a:p>
            <a:pPr>
              <a:spcAft>
                <a:spcPts val="200"/>
              </a:spcAft>
              <a:defRPr sz="1050" b="1">
                <a:solidFill>
                  <a:srgbClr val="F43F5E"/>
                </a:solidFill>
              </a:defRPr>
            </a:pPr>
            <a:r>
              <a:t>Step 2: Hazard Injection (/incidents)</a:t>
            </a:r>
          </a:p>
          <a:p>
            <a:pPr>
              <a:defRPr sz="819">
                <a:solidFill>
                  <a:srgbClr val="CBD5E1"/>
                </a:solidFill>
              </a:defRPr>
            </a:pPr>
            <a:r>
              <a:t>Trigger simulated Fire Event at epicenter (10, 10). Agents A4, A5, A6, A7 enter the combustion zone. Temperature surges to 46°C, smoke spikes to 0.85, humidity drops to 18%.</a:t>
            </a:r>
          </a:p>
        </p:txBody>
      </p:sp>
      <p:sp>
        <p:nvSpPr>
          <p:cNvPr id="11" name="Rounded Rectangle 10"/>
          <p:cNvSpPr/>
          <p:nvPr/>
        </p:nvSpPr>
        <p:spPr>
          <a:xfrm>
            <a:off x="731520" y="3072384"/>
            <a:ext cx="10744200" cy="73152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18104"/>
            <a:ext cx="10378440" cy="640080"/>
          </a:xfrm>
          <a:prstGeom prst="rect">
            <a:avLst/>
          </a:prstGeom>
          <a:noFill/>
        </p:spPr>
        <p:txBody>
          <a:bodyPr wrap="square">
            <a:spAutoFit/>
          </a:bodyPr>
          <a:lstStyle/>
          <a:p>
            <a:pPr>
              <a:spcAft>
                <a:spcPts val="200"/>
              </a:spcAft>
              <a:defRPr sz="1050" b="1">
                <a:solidFill>
                  <a:srgbClr val="F59E0B"/>
                </a:solidFill>
              </a:defRPr>
            </a:pPr>
            <a:r>
              <a:t>Step 3: Edge AI Detection &amp; Consensus</a:t>
            </a:r>
          </a:p>
          <a:p>
            <a:pPr>
              <a:defRPr sz="819">
                <a:solidFill>
                  <a:srgbClr val="CBD5E1"/>
                </a:solidFill>
              </a:defRPr>
            </a:pPr>
            <a:r>
              <a:t>Agent A6's local Isolation Forest scores -0.21 (ANOMALY); rule classifier flags FIRE. A6 broadcasts alerts to neighbors A5, A7, A8. Neighborhood quorum confirms FIRE with 88% confidence.</a:t>
            </a:r>
          </a:p>
        </p:txBody>
      </p:sp>
      <p:sp>
        <p:nvSpPr>
          <p:cNvPr id="13" name="Rounded Rectangle 12"/>
          <p:cNvSpPr/>
          <p:nvPr/>
        </p:nvSpPr>
        <p:spPr>
          <a:xfrm>
            <a:off x="731520" y="3877056"/>
            <a:ext cx="10744200" cy="731520"/>
          </a:xfrm>
          <a:prstGeom prst="roundRect">
            <a:avLst>
              <a:gd name="adj" fmla="val 5000"/>
            </a:avLst>
          </a:prstGeom>
          <a:solidFill>
            <a:srgbClr val="0E1726"/>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22776"/>
            <a:ext cx="10378440" cy="640080"/>
          </a:xfrm>
          <a:prstGeom prst="rect">
            <a:avLst/>
          </a:prstGeom>
          <a:noFill/>
        </p:spPr>
        <p:txBody>
          <a:bodyPr wrap="square">
            <a:spAutoFit/>
          </a:bodyPr>
          <a:lstStyle/>
          <a:p>
            <a:pPr>
              <a:spcAft>
                <a:spcPts val="200"/>
              </a:spcAft>
              <a:defRPr sz="1050" b="1">
                <a:solidFill>
                  <a:srgbClr val="F43F5E"/>
                </a:solidFill>
              </a:defRPr>
            </a:pPr>
            <a:r>
              <a:t>Step 4: Simulated Node Destruction</a:t>
            </a:r>
          </a:p>
          <a:p>
            <a:pPr>
              <a:defRPr sz="819">
                <a:solidFill>
                  <a:srgbClr val="CBD5E1"/>
                </a:solidFill>
              </a:defRPr>
            </a:pPr>
            <a:r>
              <a:t>Simulate extreme heat destroying agent A6 ('Fail Agent'). A6's status flips to FAILED, battery drops to 0%, and its communication edges are instantly pruned by the NetworkManager.</a:t>
            </a:r>
          </a:p>
        </p:txBody>
      </p:sp>
      <p:sp>
        <p:nvSpPr>
          <p:cNvPr id="15" name="Rounded Rectangle 14"/>
          <p:cNvSpPr/>
          <p:nvPr/>
        </p:nvSpPr>
        <p:spPr>
          <a:xfrm>
            <a:off x="731520" y="4681728"/>
            <a:ext cx="10744200" cy="73152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27448"/>
            <a:ext cx="10378440" cy="640080"/>
          </a:xfrm>
          <a:prstGeom prst="rect">
            <a:avLst/>
          </a:prstGeom>
          <a:noFill/>
        </p:spPr>
        <p:txBody>
          <a:bodyPr wrap="square">
            <a:spAutoFit/>
          </a:bodyPr>
          <a:lstStyle/>
          <a:p>
            <a:pPr>
              <a:spcAft>
                <a:spcPts val="200"/>
              </a:spcAft>
              <a:defRPr sz="1050" b="1">
                <a:solidFill>
                  <a:srgbClr val="10B981"/>
                </a:solidFill>
              </a:defRPr>
            </a:pPr>
            <a:r>
              <a:t>Step 5: Autonomous Self-Organization</a:t>
            </a:r>
          </a:p>
          <a:p>
            <a:pPr>
              <a:defRPr sz="819">
                <a:solidFill>
                  <a:srgbClr val="CBD5E1"/>
                </a:solidFill>
              </a:defRPr>
            </a:pPr>
            <a:r>
              <a:t>Trigger Self-Organization. Algorithm scans active orphan nodes, calculates Manhattan distances (d ≤ 4), establishes replacement connections between A5 &lt;-&gt; A7, and restores connectivity in 12ms!</a:t>
            </a:r>
          </a:p>
        </p:txBody>
      </p:sp>
      <p:sp>
        <p:nvSpPr>
          <p:cNvPr id="17" name="Rounded Rectangle 16"/>
          <p:cNvSpPr/>
          <p:nvPr/>
        </p:nvSpPr>
        <p:spPr>
          <a:xfrm>
            <a:off x="731520" y="5486400"/>
            <a:ext cx="10744200" cy="73152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532120"/>
            <a:ext cx="10378440" cy="640080"/>
          </a:xfrm>
          <a:prstGeom prst="rect">
            <a:avLst/>
          </a:prstGeom>
          <a:noFill/>
        </p:spPr>
        <p:txBody>
          <a:bodyPr wrap="square">
            <a:spAutoFit/>
          </a:bodyPr>
          <a:lstStyle/>
          <a:p>
            <a:pPr>
              <a:spcAft>
                <a:spcPts val="200"/>
              </a:spcAft>
              <a:defRPr sz="1050" b="1">
                <a:solidFill>
                  <a:srgbClr val="A855F7"/>
                </a:solidFill>
              </a:defRPr>
            </a:pPr>
            <a:r>
              <a:t>Step 6: Audit History Verification</a:t>
            </a:r>
          </a:p>
          <a:p>
            <a:pPr>
              <a:defRPr sz="819">
                <a:solidFill>
                  <a:srgbClr val="CBD5E1"/>
                </a:solidFill>
              </a:defRPr>
            </a:pPr>
            <a:r>
              <a:t>Open /history to inspect the immutable audit log verifying each step: Hazard Detection -&gt; P2P Consensus -&gt; Link Pruning -&gt; Autonomous Topology Recovery.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OPERATIONAL RESILIENCE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Security, Reliability &amp; Performance: Benchmarks and Robustness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475488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2971800" cy="4389120"/>
          </a:xfrm>
          <a:prstGeom prst="rect">
            <a:avLst/>
          </a:prstGeom>
          <a:noFill/>
        </p:spPr>
        <p:txBody>
          <a:bodyPr wrap="square">
            <a:spAutoFit/>
          </a:bodyPr>
          <a:lstStyle/>
          <a:p>
            <a:pPr>
              <a:spcAft>
                <a:spcPts val="800"/>
              </a:spcAft>
              <a:defRPr sz="1200" b="1">
                <a:solidFill>
                  <a:srgbClr val="10B981"/>
                </a:solidFill>
              </a:defRPr>
            </a:pPr>
            <a:r>
              <a:t>PERFORMANCE BENCHMARKS</a:t>
            </a:r>
          </a:p>
          <a:p>
            <a:pPr>
              <a:defRPr sz="900" b="1">
                <a:solidFill>
                  <a:srgbClr val="F8FAFC"/>
                </a:solidFill>
              </a:defRPr>
            </a:pPr>
            <a:r>
              <a:t>Inference Latency: </a:t>
            </a:r>
          </a:p>
          <a:p>
            <a:pPr>
              <a:spcAft>
                <a:spcPts val="600"/>
              </a:spcAft>
              <a:defRPr sz="819">
                <a:solidFill>
                  <a:srgbClr val="CBD5E1"/>
                </a:solidFill>
              </a:defRPr>
            </a:pPr>
            <a:r>
              <a:t>&lt; 1.5 milliseconds per 6-sensor vector on edge node.</a:t>
            </a:r>
          </a:p>
          <a:p>
            <a:pPr>
              <a:defRPr sz="900" b="1">
                <a:solidFill>
                  <a:srgbClr val="F8FAFC"/>
                </a:solidFill>
              </a:defRPr>
            </a:pPr>
            <a:r>
              <a:t>Topology Recovery: </a:t>
            </a:r>
          </a:p>
          <a:p>
            <a:pPr>
              <a:spcAft>
                <a:spcPts val="600"/>
              </a:spcAft>
              <a:defRPr sz="819">
                <a:solidFill>
                  <a:srgbClr val="CBD5E1"/>
                </a:solidFill>
              </a:defRPr>
            </a:pPr>
            <a:r>
              <a:t>&lt; 20 milliseconds to identify severed edges and restore biconnectivity.</a:t>
            </a:r>
          </a:p>
          <a:p>
            <a:pPr>
              <a:defRPr sz="900" b="1">
                <a:solidFill>
                  <a:srgbClr val="F8FAFC"/>
                </a:solidFill>
              </a:defRPr>
            </a:pPr>
            <a:r>
              <a:t>Model Memory Footprint: </a:t>
            </a:r>
          </a:p>
          <a:p>
            <a:pPr>
              <a:spcAft>
                <a:spcPts val="600"/>
              </a:spcAft>
              <a:defRPr sz="819">
                <a:solidFill>
                  <a:srgbClr val="CBD5E1"/>
                </a:solidFill>
              </a:defRPr>
            </a:pPr>
            <a:r>
              <a:t>Serialized Isolation Forest is 2.2 MB; easily fits in edge RAM.</a:t>
            </a:r>
          </a:p>
          <a:p>
            <a:pPr>
              <a:defRPr sz="900" b="1">
                <a:solidFill>
                  <a:srgbClr val="F8FAFC"/>
                </a:solidFill>
              </a:defRPr>
            </a:pPr>
            <a:r>
              <a:t>Network Throughput: </a:t>
            </a:r>
          </a:p>
          <a:p>
            <a:pPr>
              <a:spcAft>
                <a:spcPts val="600"/>
              </a:spcAft>
              <a:defRPr sz="819">
                <a:solidFill>
                  <a:srgbClr val="CBD5E1"/>
                </a:solidFill>
              </a:defRPr>
            </a:pPr>
            <a:r>
              <a:t>Reduces communication bandwidth by 95% compared to streaming raw continuous telemetry.</a:t>
            </a:r>
          </a:p>
        </p:txBody>
      </p:sp>
      <p:sp>
        <p:nvSpPr>
          <p:cNvPr id="9" name="Rounded Rectangle 8"/>
          <p:cNvSpPr/>
          <p:nvPr/>
        </p:nvSpPr>
        <p:spPr>
          <a:xfrm>
            <a:off x="4434840" y="1463040"/>
            <a:ext cx="33375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645920"/>
            <a:ext cx="2971800" cy="4389120"/>
          </a:xfrm>
          <a:prstGeom prst="rect">
            <a:avLst/>
          </a:prstGeom>
          <a:noFill/>
        </p:spPr>
        <p:txBody>
          <a:bodyPr wrap="square">
            <a:spAutoFit/>
          </a:bodyPr>
          <a:lstStyle/>
          <a:p>
            <a:pPr>
              <a:spcAft>
                <a:spcPts val="800"/>
              </a:spcAft>
              <a:defRPr sz="1200" b="1">
                <a:solidFill>
                  <a:srgbClr val="38BDF8"/>
                </a:solidFill>
              </a:defRPr>
            </a:pPr>
            <a:r>
              <a:t>RELIABILITY ENGINEERING</a:t>
            </a:r>
          </a:p>
          <a:p>
            <a:pPr>
              <a:defRPr sz="900" b="1">
                <a:solidFill>
                  <a:srgbClr val="F8FAFC"/>
                </a:solidFill>
              </a:defRPr>
            </a:pPr>
            <a:r>
              <a:t>Dynamic Health Metric: </a:t>
            </a:r>
          </a:p>
          <a:p>
            <a:pPr>
              <a:spcAft>
                <a:spcPts val="600"/>
              </a:spcAft>
              <a:defRPr sz="819">
                <a:solidFill>
                  <a:srgbClr val="CBD5E1"/>
                </a:solidFill>
              </a:defRPr>
            </a:pPr>
            <a:r>
              <a:t>Evaluates battery and operating temperatures to compute health score (0-100).</a:t>
            </a:r>
          </a:p>
          <a:p>
            <a:pPr>
              <a:defRPr sz="900" b="1">
                <a:solidFill>
                  <a:srgbClr val="F8FAFC"/>
                </a:solidFill>
              </a:defRPr>
            </a:pPr>
            <a:r>
              <a:t>Reliability Formula: </a:t>
            </a:r>
          </a:p>
          <a:p>
            <a:pPr>
              <a:spcAft>
                <a:spcPts val="600"/>
              </a:spcAft>
              <a:defRPr sz="819">
                <a:solidFill>
                  <a:srgbClr val="CBD5E1"/>
                </a:solidFill>
              </a:defRPr>
            </a:pPr>
            <a:r>
              <a:t>Reliability = (Health * 0.6) + (Battery * 0.4); prioritizes high-trust nodes in voting.</a:t>
            </a:r>
          </a:p>
          <a:p>
            <a:pPr>
              <a:defRPr sz="900" b="1">
                <a:solidFill>
                  <a:srgbClr val="F8FAFC"/>
                </a:solidFill>
              </a:defRPr>
            </a:pPr>
            <a:r>
              <a:t>Graceful Degradation: </a:t>
            </a:r>
          </a:p>
          <a:p>
            <a:pPr>
              <a:spcAft>
                <a:spcPts val="600"/>
              </a:spcAft>
              <a:defRPr sz="819">
                <a:solidFill>
                  <a:srgbClr val="CBD5E1"/>
                </a:solidFill>
              </a:defRPr>
            </a:pPr>
            <a:r>
              <a:t>Nodes with battery &lt; 30% automatically transition to low-frequency passive sentry mode.</a:t>
            </a:r>
          </a:p>
          <a:p>
            <a:pPr>
              <a:defRPr sz="900" b="1">
                <a:solidFill>
                  <a:srgbClr val="F8FAFC"/>
                </a:solidFill>
              </a:defRPr>
            </a:pPr>
            <a:r>
              <a:t>Deadlock Prevention: </a:t>
            </a:r>
          </a:p>
          <a:p>
            <a:pPr>
              <a:spcAft>
                <a:spcPts val="600"/>
              </a:spcAft>
              <a:defRPr sz="819">
                <a:solidFill>
                  <a:srgbClr val="CBD5E1"/>
                </a:solidFill>
              </a:defRPr>
            </a:pPr>
            <a:r>
              <a:t>Asynchronous non-blocking message handling prevents agent stall during network partitions.</a:t>
            </a:r>
          </a:p>
        </p:txBody>
      </p:sp>
      <p:sp>
        <p:nvSpPr>
          <p:cNvPr id="11" name="Rounded Rectangle 10"/>
          <p:cNvSpPr/>
          <p:nvPr/>
        </p:nvSpPr>
        <p:spPr>
          <a:xfrm>
            <a:off x="8138160" y="1463040"/>
            <a:ext cx="3337560" cy="47548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645920"/>
            <a:ext cx="2971800" cy="4389120"/>
          </a:xfrm>
          <a:prstGeom prst="rect">
            <a:avLst/>
          </a:prstGeom>
          <a:noFill/>
        </p:spPr>
        <p:txBody>
          <a:bodyPr wrap="square">
            <a:spAutoFit/>
          </a:bodyPr>
          <a:lstStyle/>
          <a:p>
            <a:pPr>
              <a:spcAft>
                <a:spcPts val="800"/>
              </a:spcAft>
              <a:defRPr sz="1200" b="1">
                <a:solidFill>
                  <a:srgbClr val="F59E0B"/>
                </a:solidFill>
              </a:defRPr>
            </a:pPr>
            <a:r>
              <a:t>SECURITY &amp; INTEGRITY</a:t>
            </a:r>
          </a:p>
          <a:p>
            <a:pPr>
              <a:defRPr sz="900" b="1">
                <a:solidFill>
                  <a:srgbClr val="F8FAFC"/>
                </a:solidFill>
              </a:defRPr>
            </a:pPr>
            <a:r>
              <a:t>Pydantic Validation: </a:t>
            </a:r>
          </a:p>
          <a:p>
            <a:pPr>
              <a:spcAft>
                <a:spcPts val="600"/>
              </a:spcAft>
              <a:defRPr sz="819">
                <a:solidFill>
                  <a:srgbClr val="CBD5E1"/>
                </a:solidFill>
              </a:defRPr>
            </a:pPr>
            <a:r>
              <a:t>Strict schema verification rejects corrupted or out-of-bounds telemetry payloads.</a:t>
            </a:r>
          </a:p>
          <a:p>
            <a:pPr>
              <a:defRPr sz="900" b="1">
                <a:solidFill>
                  <a:srgbClr val="F8FAFC"/>
                </a:solidFill>
              </a:defRPr>
            </a:pPr>
            <a:r>
              <a:t>CORS Protection: </a:t>
            </a:r>
          </a:p>
          <a:p>
            <a:pPr>
              <a:spcAft>
                <a:spcPts val="600"/>
              </a:spcAft>
              <a:defRPr sz="819">
                <a:solidFill>
                  <a:srgbClr val="CBD5E1"/>
                </a:solidFill>
              </a:defRPr>
            </a:pPr>
            <a:r>
              <a:t>FastAPI middleware restricts API origin access to authorized client domains.</a:t>
            </a:r>
          </a:p>
          <a:p>
            <a:pPr>
              <a:defRPr sz="900" b="1">
                <a:solidFill>
                  <a:srgbClr val="F8FAFC"/>
                </a:solidFill>
              </a:defRPr>
            </a:pPr>
            <a:r>
              <a:t>Immutable Audit Trail: </a:t>
            </a:r>
          </a:p>
          <a:p>
            <a:pPr>
              <a:spcAft>
                <a:spcPts val="600"/>
              </a:spcAft>
              <a:defRPr sz="819">
                <a:solidFill>
                  <a:srgbClr val="CBD5E1"/>
                </a:solidFill>
              </a:defRPr>
            </a:pPr>
            <a:r>
              <a:t>Database system_audit_logs cannot be rewritten by edge agents, ensuring regulatory compliance.</a:t>
            </a:r>
          </a:p>
          <a:p>
            <a:pPr>
              <a:defRPr sz="900" b="1">
                <a:solidFill>
                  <a:srgbClr val="F8FAFC"/>
                </a:solidFill>
              </a:defRPr>
            </a:pPr>
            <a:r>
              <a:t>Fault Isolation: </a:t>
            </a:r>
          </a:p>
          <a:p>
            <a:pPr>
              <a:spcAft>
                <a:spcPts val="600"/>
              </a:spcAft>
              <a:defRPr sz="819">
                <a:solidFill>
                  <a:srgbClr val="CBD5E1"/>
                </a:solidFill>
              </a:defRPr>
            </a:pPr>
            <a:r>
              <a:t>Rogue or compromised nodes sending anomalous noise fail neighborhood quorum and are isolated.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COMPETITIVE DIFFERENTIATION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Advantages &amp; Innovation: Multi-Agent Paradigm vs Status Quo</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10744200" cy="8686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36192"/>
            <a:ext cx="10378440" cy="731520"/>
          </a:xfrm>
          <a:prstGeom prst="rect">
            <a:avLst/>
          </a:prstGeom>
          <a:noFill/>
        </p:spPr>
        <p:txBody>
          <a:bodyPr wrap="square">
            <a:spAutoFit/>
          </a:bodyPr>
          <a:lstStyle/>
          <a:p>
            <a:pPr>
              <a:spcAft>
                <a:spcPts val="200"/>
              </a:spcAft>
              <a:defRPr sz="1100" b="1">
                <a:solidFill>
                  <a:srgbClr val="00F5D4"/>
                </a:solidFill>
              </a:defRPr>
            </a:pPr>
            <a:r>
              <a:t>1. True Decentralization (Zero SPOF)</a:t>
            </a:r>
          </a:p>
          <a:p>
            <a:pPr>
              <a:defRPr sz="850">
                <a:solidFill>
                  <a:srgbClr val="CBD5E1"/>
                </a:solidFill>
              </a:defRPr>
            </a:pPr>
            <a:r>
              <a:t>Eliminates reliance on cloud servers during critical emergencies. Hazard detection, neighbor voting, and alert escalation proceed seamlessly even if all external internet access is severed.</a:t>
            </a:r>
          </a:p>
        </p:txBody>
      </p:sp>
      <p:sp>
        <p:nvSpPr>
          <p:cNvPr id="9" name="Rounded Rectangle 8"/>
          <p:cNvSpPr/>
          <p:nvPr/>
        </p:nvSpPr>
        <p:spPr>
          <a:xfrm>
            <a:off x="731520" y="2423160"/>
            <a:ext cx="10744200" cy="8686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96312"/>
            <a:ext cx="10378440" cy="731520"/>
          </a:xfrm>
          <a:prstGeom prst="rect">
            <a:avLst/>
          </a:prstGeom>
          <a:noFill/>
        </p:spPr>
        <p:txBody>
          <a:bodyPr wrap="square">
            <a:spAutoFit/>
          </a:bodyPr>
          <a:lstStyle/>
          <a:p>
            <a:pPr>
              <a:spcAft>
                <a:spcPts val="200"/>
              </a:spcAft>
              <a:defRPr sz="1100" b="1">
                <a:solidFill>
                  <a:srgbClr val="38BDF8"/>
                </a:solidFill>
              </a:defRPr>
            </a:pPr>
            <a:r>
              <a:t>2. 95% Communication Bandwidth Savings</a:t>
            </a:r>
          </a:p>
          <a:p>
            <a:pPr>
              <a:defRPr sz="850">
                <a:solidFill>
                  <a:srgbClr val="CBD5E1"/>
                </a:solidFill>
              </a:defRPr>
            </a:pPr>
            <a:r>
              <a:t>Rather than continuously streaming raw high-frequency sensor readings, agents transmit lightweight alert payloads only when statistically confirmed anomalies emerge.</a:t>
            </a:r>
          </a:p>
        </p:txBody>
      </p:sp>
      <p:sp>
        <p:nvSpPr>
          <p:cNvPr id="11" name="Rounded Rectangle 10"/>
          <p:cNvSpPr/>
          <p:nvPr/>
        </p:nvSpPr>
        <p:spPr>
          <a:xfrm>
            <a:off x="731520" y="3383280"/>
            <a:ext cx="10744200" cy="868680"/>
          </a:xfrm>
          <a:prstGeom prst="roundRect">
            <a:avLst>
              <a:gd name="adj" fmla="val 5000"/>
            </a:avLst>
          </a:prstGeom>
          <a:solidFill>
            <a:srgbClr val="0E1726"/>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56432"/>
            <a:ext cx="10378440" cy="731520"/>
          </a:xfrm>
          <a:prstGeom prst="rect">
            <a:avLst/>
          </a:prstGeom>
          <a:noFill/>
        </p:spPr>
        <p:txBody>
          <a:bodyPr wrap="square">
            <a:spAutoFit/>
          </a:bodyPr>
          <a:lstStyle/>
          <a:p>
            <a:pPr>
              <a:spcAft>
                <a:spcPts val="200"/>
              </a:spcAft>
              <a:defRPr sz="1100" b="1">
                <a:solidFill>
                  <a:srgbClr val="10B981"/>
                </a:solidFill>
              </a:defRPr>
            </a:pPr>
            <a:r>
              <a:t>3. Quorum-Validated False Alarm Rejection</a:t>
            </a:r>
          </a:p>
          <a:p>
            <a:pPr>
              <a:defRPr sz="850">
                <a:solidFill>
                  <a:srgbClr val="CBD5E1"/>
                </a:solidFill>
              </a:defRPr>
            </a:pPr>
            <a:r>
              <a:t>Solitary defective sensors or transient dust bursts cannot trigger false alarms because the consensus threshold requires spatial agreement across active neighbors (θ ≥ 0.50).</a:t>
            </a:r>
          </a:p>
        </p:txBody>
      </p:sp>
      <p:sp>
        <p:nvSpPr>
          <p:cNvPr id="13" name="Rounded Rectangle 12"/>
          <p:cNvSpPr/>
          <p:nvPr/>
        </p:nvSpPr>
        <p:spPr>
          <a:xfrm>
            <a:off x="731520" y="4343400"/>
            <a:ext cx="10744200" cy="8686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416552"/>
            <a:ext cx="10378440" cy="731520"/>
          </a:xfrm>
          <a:prstGeom prst="rect">
            <a:avLst/>
          </a:prstGeom>
          <a:noFill/>
        </p:spPr>
        <p:txBody>
          <a:bodyPr wrap="square">
            <a:spAutoFit/>
          </a:bodyPr>
          <a:lstStyle/>
          <a:p>
            <a:pPr>
              <a:spcAft>
                <a:spcPts val="200"/>
              </a:spcAft>
              <a:defRPr sz="1100" b="1">
                <a:solidFill>
                  <a:srgbClr val="A855F7"/>
                </a:solidFill>
              </a:defRPr>
            </a:pPr>
            <a:r>
              <a:t>4. Dynamic Graph Mesh Self-Healing</a:t>
            </a:r>
          </a:p>
          <a:p>
            <a:pPr>
              <a:defRPr sz="850">
                <a:solidFill>
                  <a:srgbClr val="CBD5E1"/>
                </a:solidFill>
              </a:defRPr>
            </a:pPr>
            <a:r>
              <a:t>When edge nodes are physically burned or destroyed, the autonomous NetworkX reorganization algorithm reconnects orphaned neighbors via Manhattan proximity in under 20ms.</a:t>
            </a:r>
          </a:p>
        </p:txBody>
      </p:sp>
      <p:sp>
        <p:nvSpPr>
          <p:cNvPr id="15" name="Rounded Rectangle 14"/>
          <p:cNvSpPr/>
          <p:nvPr/>
        </p:nvSpPr>
        <p:spPr>
          <a:xfrm>
            <a:off x="731520" y="5303520"/>
            <a:ext cx="10744200" cy="8686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76672"/>
            <a:ext cx="10378440" cy="731520"/>
          </a:xfrm>
          <a:prstGeom prst="rect">
            <a:avLst/>
          </a:prstGeom>
          <a:noFill/>
        </p:spPr>
        <p:txBody>
          <a:bodyPr wrap="square">
            <a:spAutoFit/>
          </a:bodyPr>
          <a:lstStyle/>
          <a:p>
            <a:pPr>
              <a:spcAft>
                <a:spcPts val="200"/>
              </a:spcAft>
              <a:defRPr sz="1100" b="1">
                <a:solidFill>
                  <a:srgbClr val="F59E0B"/>
                </a:solidFill>
              </a:defRPr>
            </a:pPr>
            <a:r>
              <a:t>5. Explainable AI (XAI) Transparency</a:t>
            </a:r>
          </a:p>
          <a:p>
            <a:pPr>
              <a:defRPr sz="850">
                <a:solidFill>
                  <a:srgbClr val="CBD5E1"/>
                </a:solidFill>
              </a:defRPr>
            </a:pPr>
            <a:r>
              <a:t>Generates human-interpretable natural language narrative explanations on every node, informing command staff exactly which sensors exceeded thresholds and why.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RESEARCH ROADMAP</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Limitations &amp; Future Roadmap: Implemented Scope vs Next-Gen Features</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5166360" cy="4754880"/>
          </a:xfrm>
          <a:prstGeom prst="roundRect">
            <a:avLst>
              <a:gd name="adj" fmla="val 5000"/>
            </a:avLst>
          </a:prstGeom>
          <a:solidFill>
            <a:srgbClr val="0E1726"/>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45920"/>
            <a:ext cx="4709160" cy="4389120"/>
          </a:xfrm>
          <a:prstGeom prst="rect">
            <a:avLst/>
          </a:prstGeom>
          <a:noFill/>
        </p:spPr>
        <p:txBody>
          <a:bodyPr wrap="square">
            <a:spAutoFit/>
          </a:bodyPr>
          <a:lstStyle/>
          <a:p>
            <a:pPr>
              <a:spcAft>
                <a:spcPts val="1000"/>
              </a:spcAft>
              <a:defRPr sz="1300" b="1">
                <a:solidFill>
                  <a:srgbClr val="F59E0B"/>
                </a:solidFill>
              </a:defRPr>
            </a:pPr>
            <a:r>
              <a:t>CURRENT SYSTEM BOUNDARIES</a:t>
            </a:r>
          </a:p>
          <a:p>
            <a:pPr>
              <a:defRPr sz="950" b="1">
                <a:solidFill>
                  <a:srgbClr val="F8FAFC"/>
                </a:solidFill>
              </a:defRPr>
            </a:pPr>
            <a:r>
              <a:t>Software Simulation of Hardware Probes: </a:t>
            </a:r>
          </a:p>
          <a:p>
            <a:pPr>
              <a:spcAft>
                <a:spcPts val="600"/>
              </a:spcAft>
              <a:defRPr sz="880">
                <a:solidFill>
                  <a:srgbClr val="CBD5E1"/>
                </a:solidFill>
              </a:defRPr>
            </a:pPr>
            <a:r>
              <a:t>Physical IoT radio transceivers (LoRa/Zigbee) and hardware microcontrollers are simulated in software over a 20x20 coordinate grid.</a:t>
            </a:r>
          </a:p>
          <a:p>
            <a:pPr>
              <a:defRPr sz="950" b="1">
                <a:solidFill>
                  <a:srgbClr val="F8FAFC"/>
                </a:solidFill>
              </a:defRPr>
            </a:pPr>
            <a:r>
              <a:t>Deterministic Patrol Trajectories: </a:t>
            </a:r>
          </a:p>
          <a:p>
            <a:pPr>
              <a:spcAft>
                <a:spcPts val="600"/>
              </a:spcAft>
              <a:defRPr sz="880">
                <a:solidFill>
                  <a:srgbClr val="CBD5E1"/>
                </a:solidFill>
              </a:defRPr>
            </a:pPr>
            <a:r>
              <a:t>Drone patrol steps follow stochastic drift instead of aerodynamic physics and terrain elevation contours.</a:t>
            </a:r>
          </a:p>
          <a:p>
            <a:pPr>
              <a:defRPr sz="950" b="1">
                <a:solidFill>
                  <a:srgbClr val="F8FAFC"/>
                </a:solidFill>
              </a:defRPr>
            </a:pPr>
            <a:r>
              <a:t>Static Classification Thresholds: </a:t>
            </a:r>
          </a:p>
          <a:p>
            <a:pPr>
              <a:spcAft>
                <a:spcPts val="600"/>
              </a:spcAft>
              <a:defRPr sz="880">
                <a:solidFill>
                  <a:srgbClr val="CBD5E1"/>
                </a:solidFill>
              </a:defRPr>
            </a:pPr>
            <a:r>
              <a:t>Event classification rules use fixed sensor thresholds rather than dynamically adjusting for seasonal temperature baselines.</a:t>
            </a:r>
          </a:p>
          <a:p>
            <a:pPr>
              <a:defRPr sz="950" b="1">
                <a:solidFill>
                  <a:srgbClr val="F8FAFC"/>
                </a:solidFill>
              </a:defRPr>
            </a:pPr>
            <a:r>
              <a:t>Centralized Web Coordination: </a:t>
            </a:r>
          </a:p>
          <a:p>
            <a:pPr>
              <a:spcAft>
                <a:spcPts val="600"/>
              </a:spcAft>
              <a:defRPr sz="880">
                <a:solidFill>
                  <a:srgbClr val="CBD5E1"/>
                </a:solidFill>
              </a:defRPr>
            </a:pPr>
            <a:r>
              <a:t>While edge consensus is fully decentralized, UI visualization state sync is coordinated via FastAPI server.</a:t>
            </a:r>
          </a:p>
        </p:txBody>
      </p:sp>
      <p:sp>
        <p:nvSpPr>
          <p:cNvPr id="9" name="Rounded Rectangle 8"/>
          <p:cNvSpPr/>
          <p:nvPr/>
        </p:nvSpPr>
        <p:spPr>
          <a:xfrm>
            <a:off x="6309360" y="1463040"/>
            <a:ext cx="5166360" cy="47548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45920"/>
            <a:ext cx="4709160" cy="4389120"/>
          </a:xfrm>
          <a:prstGeom prst="rect">
            <a:avLst/>
          </a:prstGeom>
          <a:noFill/>
        </p:spPr>
        <p:txBody>
          <a:bodyPr wrap="square">
            <a:spAutoFit/>
          </a:bodyPr>
          <a:lstStyle/>
          <a:p>
            <a:pPr>
              <a:spcAft>
                <a:spcPts val="1000"/>
              </a:spcAft>
              <a:defRPr sz="1300" b="1">
                <a:solidFill>
                  <a:srgbClr val="A855F7"/>
                </a:solidFill>
              </a:defRPr>
            </a:pPr>
            <a:r>
              <a:t>FUTURE RESEARCH ROADMAP</a:t>
            </a:r>
          </a:p>
          <a:p>
            <a:pPr>
              <a:defRPr sz="950" b="1">
                <a:solidFill>
                  <a:srgbClr val="F8FAFC"/>
                </a:solidFill>
              </a:defRPr>
            </a:pPr>
            <a:r>
              <a:t>1. Physical LoRaWAN / ESP32 Hardware: </a:t>
            </a:r>
          </a:p>
          <a:p>
            <a:pPr>
              <a:spcAft>
                <a:spcPts val="600"/>
              </a:spcAft>
              <a:defRPr sz="880">
                <a:solidFill>
                  <a:srgbClr val="CBD5E1"/>
                </a:solidFill>
              </a:defRPr>
            </a:pPr>
            <a:r>
              <a:t>Deploy embedded C++ agent runtimes onto low-power ESP32 microcontrollers with 868/915 MHz LoRa transceivers.</a:t>
            </a:r>
          </a:p>
          <a:p>
            <a:pPr>
              <a:defRPr sz="950" b="1">
                <a:solidFill>
                  <a:srgbClr val="F8FAFC"/>
                </a:solidFill>
              </a:defRPr>
            </a:pPr>
            <a:r>
              <a:t>2. Deep Reinforcement Learning (DRL): </a:t>
            </a:r>
          </a:p>
          <a:p>
            <a:pPr>
              <a:spcAft>
                <a:spcPts val="600"/>
              </a:spcAft>
              <a:defRPr sz="880">
                <a:solidFill>
                  <a:srgbClr val="CBD5E1"/>
                </a:solidFill>
              </a:defRPr>
            </a:pPr>
            <a:r>
              <a:t>Implement PPO/DQN algorithms for autonomous drone swarm repositioning to dynamically contain expanding fire perimeters.</a:t>
            </a:r>
          </a:p>
          <a:p>
            <a:pPr>
              <a:defRPr sz="950" b="1">
                <a:solidFill>
                  <a:srgbClr val="F8FAFC"/>
                </a:solidFill>
              </a:defRPr>
            </a:pPr>
            <a:r>
              <a:t>3. Byzantine Fault Tolerant (BFT) Ledger: </a:t>
            </a:r>
          </a:p>
          <a:p>
            <a:pPr>
              <a:spcAft>
                <a:spcPts val="600"/>
              </a:spcAft>
              <a:defRPr sz="880">
                <a:solidFill>
                  <a:srgbClr val="CBD5E1"/>
                </a:solidFill>
              </a:defRPr>
            </a:pPr>
            <a:r>
              <a:t>Integrate lightweight cryptographic blockchain consensus for tamper-proof regulatory emission compliance.</a:t>
            </a:r>
          </a:p>
          <a:p>
            <a:pPr>
              <a:defRPr sz="950" b="1">
                <a:solidFill>
                  <a:srgbClr val="F8FAFC"/>
                </a:solidFill>
              </a:defRPr>
            </a:pPr>
            <a:r>
              <a:t>4. Satellite Remote Sensing Fusion: </a:t>
            </a:r>
          </a:p>
          <a:p>
            <a:pPr>
              <a:spcAft>
                <a:spcPts val="600"/>
              </a:spcAft>
              <a:defRPr sz="880">
                <a:solidFill>
                  <a:srgbClr val="CBD5E1"/>
                </a:solidFill>
              </a:defRPr>
            </a:pPr>
            <a:r>
              <a:t>Fuse local edge agent alerts with Sentinel-2 optical and NASA FIRMS thermal anomaly satellite feeds.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20040"/>
          </a:xfrm>
          <a:prstGeom prst="rect">
            <a:avLst/>
          </a:prstGeom>
          <a:noFill/>
        </p:spPr>
        <p:txBody>
          <a:bodyPr wrap="square" lIns="0" tIns="0" rIns="0" bIns="0">
            <a:spAutoFit/>
          </a:bodyPr>
          <a:lstStyle/>
          <a:p>
            <a:pPr>
              <a:defRPr sz="1000" b="1">
                <a:solidFill>
                  <a:srgbClr val="00F5D4"/>
                </a:solidFill>
                <a:latin typeface="Segoe UI"/>
              </a:defRPr>
            </a:pPr>
            <a:r>
              <a:t>PROJECT SYNTHESIS &amp; SUMMARY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latin typeface="Segoe UI"/>
              </a:defRPr>
            </a:pPr>
            <a:r>
              <a:t>Conclusion: Summary of Technical Contributions &amp; Practical Significance</a:t>
            </a:r>
          </a:p>
        </p:txBody>
      </p:sp>
      <p:sp>
        <p:nvSpPr>
          <p:cNvPr id="5" name="Rectangle 4"/>
          <p:cNvSpPr/>
          <p:nvPr/>
        </p:nvSpPr>
        <p:spPr>
          <a:xfrm>
            <a:off x="731520" y="1234440"/>
            <a:ext cx="10728655" cy="18288"/>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pPr>
              <a:defRPr sz="850">
                <a:solidFill>
                  <a:srgbClr val="94A3B8"/>
                </a:solidFill>
                <a:latin typeface="Segoe UI"/>
              </a:defRPr>
            </a:pPr>
            <a:r>
              <a:t>Self-Organizing Multi-Agent Systems for Decentralized Environmental Monitoring  |  Academic &amp; Technical Viva Defense</a:t>
            </a:r>
          </a:p>
        </p:txBody>
      </p:sp>
      <p:sp>
        <p:nvSpPr>
          <p:cNvPr id="7" name="Rounded Rectangle 6"/>
          <p:cNvSpPr/>
          <p:nvPr/>
        </p:nvSpPr>
        <p:spPr>
          <a:xfrm>
            <a:off x="731520" y="1463040"/>
            <a:ext cx="3337560" cy="475488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3063240" cy="4389120"/>
          </a:xfrm>
          <a:prstGeom prst="rect">
            <a:avLst/>
          </a:prstGeom>
          <a:noFill/>
        </p:spPr>
        <p:txBody>
          <a:bodyPr wrap="square">
            <a:spAutoFit/>
          </a:bodyPr>
          <a:lstStyle/>
          <a:p>
            <a:pPr>
              <a:spcAft>
                <a:spcPts val="1200"/>
              </a:spcAft>
              <a:defRPr sz="1200" b="1">
                <a:solidFill>
                  <a:srgbClr val="00F5D4"/>
                </a:solidFill>
              </a:defRPr>
            </a:pPr>
            <a:r>
              <a:t>CORE PROJECT SUMMARY</a:t>
            </a:r>
          </a:p>
          <a:p>
            <a:pPr>
              <a:defRPr sz="950" b="1">
                <a:solidFill>
                  <a:srgbClr val="F8FAFC"/>
                </a:solidFill>
              </a:defRPr>
            </a:pPr>
            <a:r>
              <a:t>Decentralized Paradigm Proved: </a:t>
            </a:r>
          </a:p>
          <a:p>
            <a:pPr>
              <a:spcAft>
                <a:spcPts val="800"/>
              </a:spcAft>
              <a:defRPr sz="880">
                <a:solidFill>
                  <a:srgbClr val="CBD5E1"/>
                </a:solidFill>
              </a:defRPr>
            </a:pPr>
            <a:r>
              <a:t>Demonstrated that shifting environmental sensing and AI inference from centralized clouds to autonomous edge agents provides unmatched disaster resilience.</a:t>
            </a:r>
          </a:p>
          <a:p>
            <a:pPr>
              <a:defRPr sz="950" b="1">
                <a:solidFill>
                  <a:srgbClr val="F8FAFC"/>
                </a:solidFill>
              </a:defRPr>
            </a:pPr>
            <a:r>
              <a:t>Multi-Sensor Mastery: </a:t>
            </a:r>
          </a:p>
          <a:p>
            <a:pPr>
              <a:spcAft>
                <a:spcPts val="800"/>
              </a:spcAft>
              <a:defRPr sz="880">
                <a:solidFill>
                  <a:srgbClr val="CBD5E1"/>
                </a:solidFill>
              </a:defRPr>
            </a:pPr>
            <a:r>
              <a:t>Simultaneous tracking of 6 telemetry parameters provides robust multi-dimensional coverage across diverse ecological hazard types.</a:t>
            </a:r>
          </a:p>
          <a:p>
            <a:pPr>
              <a:defRPr sz="950" b="1">
                <a:solidFill>
                  <a:srgbClr val="F8FAFC"/>
                </a:solidFill>
              </a:defRPr>
            </a:pPr>
            <a:r>
              <a:t>Fault-Tolerant Mesh: </a:t>
            </a:r>
          </a:p>
          <a:p>
            <a:pPr>
              <a:spcAft>
                <a:spcPts val="800"/>
              </a:spcAft>
              <a:defRPr sz="880">
                <a:solidFill>
                  <a:srgbClr val="CBD5E1"/>
                </a:solidFill>
              </a:defRPr>
            </a:pPr>
            <a:r>
              <a:t>NetworkX self-organization algorithm restores network connectivity dynamically in under 20ms following node destruction.</a:t>
            </a:r>
          </a:p>
        </p:txBody>
      </p:sp>
      <p:sp>
        <p:nvSpPr>
          <p:cNvPr id="9" name="Rounded Rectangle 8"/>
          <p:cNvSpPr/>
          <p:nvPr/>
        </p:nvSpPr>
        <p:spPr>
          <a:xfrm>
            <a:off x="4434840" y="1463040"/>
            <a:ext cx="3337560" cy="475488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45920"/>
            <a:ext cx="3063240" cy="4389120"/>
          </a:xfrm>
          <a:prstGeom prst="rect">
            <a:avLst/>
          </a:prstGeom>
          <a:noFill/>
        </p:spPr>
        <p:txBody>
          <a:bodyPr wrap="square">
            <a:spAutoFit/>
          </a:bodyPr>
          <a:lstStyle/>
          <a:p>
            <a:pPr>
              <a:spcAft>
                <a:spcPts val="1200"/>
              </a:spcAft>
              <a:defRPr sz="1200" b="1">
                <a:solidFill>
                  <a:srgbClr val="38BDF8"/>
                </a:solidFill>
              </a:defRPr>
            </a:pPr>
            <a:r>
              <a:t>MAJOR TECHNICAL CONTRIBUTIONS</a:t>
            </a:r>
          </a:p>
          <a:p>
            <a:pPr>
              <a:defRPr sz="950" b="1">
                <a:solidFill>
                  <a:srgbClr val="F8FAFC"/>
                </a:solidFill>
              </a:defRPr>
            </a:pPr>
            <a:r>
              <a:t>Local ML + Rule Engine: </a:t>
            </a:r>
          </a:p>
          <a:p>
            <a:pPr>
              <a:spcAft>
                <a:spcPts val="800"/>
              </a:spcAft>
              <a:defRPr sz="880">
                <a:solidFill>
                  <a:srgbClr val="CBD5E1"/>
                </a:solidFill>
              </a:defRPr>
            </a:pPr>
            <a:r>
              <a:t>Hybrid approach combining unsupervised Isolation Forest anomaly scoring with contextual multi-hazard event classification.</a:t>
            </a:r>
          </a:p>
          <a:p>
            <a:pPr>
              <a:defRPr sz="950" b="1">
                <a:solidFill>
                  <a:srgbClr val="F8FAFC"/>
                </a:solidFill>
              </a:defRPr>
            </a:pPr>
            <a:r>
              <a:t>Spatial Quorum Protocol: </a:t>
            </a:r>
          </a:p>
          <a:p>
            <a:pPr>
              <a:spcAft>
                <a:spcPts val="800"/>
              </a:spcAft>
              <a:defRPr sz="880">
                <a:solidFill>
                  <a:srgbClr val="CBD5E1"/>
                </a:solidFill>
              </a:defRPr>
            </a:pPr>
            <a:r>
              <a:t>Neighborhood consensus mechanism (θ ≥ 0.50) successfully suppresses sensor drift while ensuring 85%+ hazard confirmation.</a:t>
            </a:r>
          </a:p>
          <a:p>
            <a:pPr>
              <a:defRPr sz="950" b="1">
                <a:solidFill>
                  <a:srgbClr val="F8FAFC"/>
                </a:solidFill>
              </a:defRPr>
            </a:pPr>
            <a:r>
              <a:t>Production Full-Stack: </a:t>
            </a:r>
          </a:p>
          <a:p>
            <a:pPr>
              <a:spcAft>
                <a:spcPts val="800"/>
              </a:spcAft>
              <a:defRPr sz="880">
                <a:solidFill>
                  <a:srgbClr val="CBD5E1"/>
                </a:solidFill>
              </a:defRPr>
            </a:pPr>
            <a:r>
              <a:t>Complete Next.js 14 mission control application powered by FastAPI ASGI server and 7-table SQLAlchemy persistence.</a:t>
            </a:r>
          </a:p>
        </p:txBody>
      </p:sp>
      <p:sp>
        <p:nvSpPr>
          <p:cNvPr id="11" name="Rounded Rectangle 10"/>
          <p:cNvSpPr/>
          <p:nvPr/>
        </p:nvSpPr>
        <p:spPr>
          <a:xfrm>
            <a:off x="8138160" y="1463040"/>
            <a:ext cx="3337560" cy="475488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20" y="1645920"/>
            <a:ext cx="3063240" cy="4389120"/>
          </a:xfrm>
          <a:prstGeom prst="rect">
            <a:avLst/>
          </a:prstGeom>
          <a:noFill/>
        </p:spPr>
        <p:txBody>
          <a:bodyPr wrap="square">
            <a:spAutoFit/>
          </a:bodyPr>
          <a:lstStyle/>
          <a:p>
            <a:pPr>
              <a:spcAft>
                <a:spcPts val="1200"/>
              </a:spcAft>
              <a:defRPr sz="1200" b="1">
                <a:solidFill>
                  <a:srgbClr val="A855F7"/>
                </a:solidFill>
              </a:defRPr>
            </a:pPr>
            <a:r>
              <a:t>FINAL TAKEAWAY FOR DEFENSE</a:t>
            </a:r>
          </a:p>
          <a:p>
            <a:pPr>
              <a:defRPr sz="950" b="1">
                <a:solidFill>
                  <a:srgbClr val="F8FAFC"/>
                </a:solidFill>
              </a:defRPr>
            </a:pPr>
            <a:r>
              <a:t>Mission-Critical Reliability: </a:t>
            </a:r>
          </a:p>
          <a:p>
            <a:pPr>
              <a:spcAft>
                <a:spcPts val="800"/>
              </a:spcAft>
              <a:defRPr sz="880">
                <a:solidFill>
                  <a:srgbClr val="CBD5E1"/>
                </a:solidFill>
              </a:defRPr>
            </a:pPr>
            <a:r>
              <a:t>Disasters don't wait for cloud uplinks. Edge-based Multi-Agent Systems are the future of environmental disaster mitigation.</a:t>
            </a:r>
          </a:p>
          <a:p>
            <a:pPr>
              <a:defRPr sz="950" b="1">
                <a:solidFill>
                  <a:srgbClr val="F8FAFC"/>
                </a:solidFill>
              </a:defRPr>
            </a:pPr>
            <a:r>
              <a:t>Verified Implementation: </a:t>
            </a:r>
          </a:p>
          <a:p>
            <a:pPr>
              <a:spcAft>
                <a:spcPts val="800"/>
              </a:spcAft>
              <a:defRPr sz="880">
                <a:solidFill>
                  <a:srgbClr val="CBD5E1"/>
                </a:solidFill>
              </a:defRPr>
            </a:pPr>
            <a:r>
              <a:t>All 11 unit and integration test suites pass; 22 REST endpoints fully functional and tested live.</a:t>
            </a:r>
          </a:p>
          <a:p>
            <a:pPr>
              <a:defRPr sz="950" b="1">
                <a:solidFill>
                  <a:srgbClr val="F8FAFC"/>
                </a:solidFill>
              </a:defRPr>
            </a:pPr>
            <a:r>
              <a:t>Extensible Foundation: </a:t>
            </a:r>
          </a:p>
          <a:p>
            <a:pPr>
              <a:spcAft>
                <a:spcPts val="800"/>
              </a:spcAft>
              <a:defRPr sz="880">
                <a:solidFill>
                  <a:srgbClr val="CBD5E1"/>
                </a:solidFill>
              </a:defRPr>
            </a:pPr>
            <a:r>
              <a:t>Provides a battle-tested architecture ready for physical LoRaWAN hardware deployment and real-world field trials.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B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3200400"/>
          </a:xfrm>
          <a:prstGeom prst="rect">
            <a:avLst/>
          </a:prstGeom>
          <a:noFill/>
        </p:spPr>
        <p:txBody>
          <a:bodyPr wrap="square">
            <a:spAutoFit/>
          </a:bodyPr>
          <a:lstStyle/>
          <a:p>
            <a:pPr algn="ctr">
              <a:spcAft>
                <a:spcPts val="1000"/>
              </a:spcAft>
              <a:defRPr sz="4000" b="1">
                <a:solidFill>
                  <a:srgbClr val="00F5D4"/>
                </a:solidFill>
                <a:latin typeface="Segoe UI"/>
              </a:defRPr>
            </a:pPr>
            <a:r>
              <a:t>THANK YOU!</a:t>
            </a:r>
          </a:p>
          <a:p>
            <a:pPr algn="ctr">
              <a:spcAft>
                <a:spcPts val="1400"/>
              </a:spcAft>
              <a:defRPr sz="2000">
                <a:solidFill>
                  <a:srgbClr val="F8FAFC"/>
                </a:solidFill>
                <a:latin typeface="Segoe UI"/>
              </a:defRPr>
            </a:pPr>
            <a:r>
              <a:t>Questions &amp; Answers  •  Faculty Viva Evaluation</a:t>
            </a:r>
          </a:p>
          <a:p>
            <a:pPr algn="ctr">
              <a:spcAft>
                <a:spcPts val="2000"/>
              </a:spcAft>
              <a:defRPr sz="1300">
                <a:solidFill>
                  <a:srgbClr val="38BDF8"/>
                </a:solidFill>
                <a:latin typeface="Segoe UI"/>
              </a:defRPr>
            </a:pPr>
            <a:r>
              <a:t>Self-Organizing Multi-Agent Systems for Decentralized Environmental Monitoring</a:t>
            </a:r>
          </a:p>
        </p:txBody>
      </p:sp>
      <p:sp>
        <p:nvSpPr>
          <p:cNvPr id="4" name="Rounded Rectangle 3"/>
          <p:cNvSpPr/>
          <p:nvPr/>
        </p:nvSpPr>
        <p:spPr>
          <a:xfrm>
            <a:off x="1371600" y="4389120"/>
            <a:ext cx="2926080" cy="1645920"/>
          </a:xfrm>
          <a:prstGeom prst="roundRect">
            <a:avLst>
              <a:gd name="adj" fmla="val 5000"/>
            </a:avLst>
          </a:prstGeom>
          <a:solidFill>
            <a:srgbClr val="0E1726"/>
          </a:solidFill>
          <a:ln w="12700">
            <a:solidFill>
              <a:srgbClr val="00F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4526280"/>
            <a:ext cx="2651760" cy="1371600"/>
          </a:xfrm>
          <a:prstGeom prst="rect">
            <a:avLst/>
          </a:prstGeom>
          <a:noFill/>
        </p:spPr>
        <p:txBody>
          <a:bodyPr wrap="square">
            <a:spAutoFit/>
          </a:bodyPr>
          <a:lstStyle/>
          <a:p>
            <a:pPr>
              <a:defRPr sz="1050" b="1">
                <a:solidFill>
                  <a:srgbClr val="00F5D4"/>
                </a:solidFill>
              </a:defRPr>
            </a:pPr>
            <a:r>
              <a:t>AI MODEL</a:t>
            </a:r>
          </a:p>
          <a:p>
            <a:pPr>
              <a:defRPr sz="900">
                <a:solidFill>
                  <a:srgbClr val="CBD5E1"/>
                </a:solidFill>
              </a:defRPr>
            </a:pPr>
            <a:r>
              <a:t>Isolation Forest (200 trees)</a:t>
            </a:r>
            <a:br/>
            <a:r>
              <a:t>6 Telemetry Features</a:t>
            </a:r>
            <a:br/>
            <a:r>
              <a:t>Inference Latency: &lt;1.5 ms</a:t>
            </a:r>
          </a:p>
        </p:txBody>
      </p:sp>
      <p:sp>
        <p:nvSpPr>
          <p:cNvPr id="6" name="Rounded Rectangle 5"/>
          <p:cNvSpPr/>
          <p:nvPr/>
        </p:nvSpPr>
        <p:spPr>
          <a:xfrm>
            <a:off x="4632350" y="4389120"/>
            <a:ext cx="2926080" cy="1645920"/>
          </a:xfrm>
          <a:prstGeom prst="roundRect">
            <a:avLst>
              <a:gd name="adj" fmla="val 5000"/>
            </a:avLst>
          </a:prstGeom>
          <a:solidFill>
            <a:srgbClr val="0E172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4526280"/>
            <a:ext cx="2651760" cy="1371600"/>
          </a:xfrm>
          <a:prstGeom prst="rect">
            <a:avLst/>
          </a:prstGeom>
          <a:noFill/>
        </p:spPr>
        <p:txBody>
          <a:bodyPr wrap="square">
            <a:spAutoFit/>
          </a:bodyPr>
          <a:lstStyle/>
          <a:p>
            <a:pPr>
              <a:defRPr sz="1050" b="1">
                <a:solidFill>
                  <a:srgbClr val="38BDF8"/>
                </a:solidFill>
              </a:defRPr>
            </a:pPr>
            <a:r>
              <a:t>CONSENSUS &amp; HEALING</a:t>
            </a:r>
          </a:p>
          <a:p>
            <a:pPr>
              <a:defRPr sz="900">
                <a:solidFill>
                  <a:srgbClr val="CBD5E1"/>
                </a:solidFill>
              </a:defRPr>
            </a:pPr>
            <a:r>
              <a:t>Spatial Quorum: θ ≥ 0.50</a:t>
            </a:r>
            <a:br/>
            <a:r>
              <a:t>Manhattan Reconnect: d ≤ 4</a:t>
            </a:r>
            <a:br/>
            <a:r>
              <a:t>Recovery: &lt;20 ms</a:t>
            </a:r>
          </a:p>
        </p:txBody>
      </p:sp>
      <p:sp>
        <p:nvSpPr>
          <p:cNvPr id="8" name="Rounded Rectangle 7"/>
          <p:cNvSpPr/>
          <p:nvPr/>
        </p:nvSpPr>
        <p:spPr>
          <a:xfrm>
            <a:off x="7894015" y="4389120"/>
            <a:ext cx="2926080" cy="1645920"/>
          </a:xfrm>
          <a:prstGeom prst="roundRect">
            <a:avLst>
              <a:gd name="adj" fmla="val 5000"/>
            </a:avLst>
          </a:prstGeom>
          <a:solidFill>
            <a:srgbClr val="0E1726"/>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4526280"/>
            <a:ext cx="2651760" cy="1371600"/>
          </a:xfrm>
          <a:prstGeom prst="rect">
            <a:avLst/>
          </a:prstGeom>
          <a:noFill/>
        </p:spPr>
        <p:txBody>
          <a:bodyPr wrap="square">
            <a:spAutoFit/>
          </a:bodyPr>
          <a:lstStyle/>
          <a:p>
            <a:pPr>
              <a:defRPr sz="1050" b="1">
                <a:solidFill>
                  <a:srgbClr val="A855F7"/>
                </a:solidFill>
              </a:defRPr>
            </a:pPr>
            <a:r>
              <a:t>TEST VERIFICATION</a:t>
            </a:r>
          </a:p>
          <a:p>
            <a:pPr>
              <a:defRPr sz="900">
                <a:solidFill>
                  <a:srgbClr val="CBD5E1"/>
                </a:solidFill>
              </a:defRPr>
            </a:pPr>
            <a:r>
              <a:t>11/11 Pytest Suites Passed</a:t>
            </a:r>
            <a:br/>
            <a:r>
              <a:t>22 REST API Endpoints</a:t>
            </a:r>
            <a:br/>
            <a:r>
              <a:t>Live Next.js 14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